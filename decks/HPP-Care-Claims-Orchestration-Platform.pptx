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32F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6400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 &amp; Claims Platform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0561320" y="384048"/>
            <a:ext cx="1234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3000" b="1" spc="100" kern="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966960" y="8686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DC3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on AWS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1554480"/>
            <a:ext cx="110642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Care &amp; Claims Orchestration Platform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548640" y="3383280"/>
            <a:ext cx="107899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C9D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Coordinates the eight agents across a patient/member journey — without widening authority.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548640" y="5029200"/>
            <a:ext cx="10789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assists, drafts, assembles, flags, recommends — a licensed human decides every consequential action.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HPP AI Agent Suite</a:t>
            </a:r>
            <a:pPr indent="0" marL="0">
              <a:buNone/>
            </a:pPr>
            <a:r>
              <a:rPr lang="en-US" sz="1100" dirty="0">
                <a:solidFill>
                  <a:srgbClr val="8FA1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Health Providers &amp; Plans   ·   Governed AI on AWS   ·   Care &amp; Claims Platform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232F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Why Orchestrate — Journeys Span Agents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0561320" y="384048"/>
            <a:ext cx="1234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3000" b="1" spc="100" kern="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966960" y="8686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DC3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on AWS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132588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9D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denial becomes an appeal and a member call; an admission becomes a discharge draft, a care-plan update, and a follow-up. The platform sequences governed actions and compensates cleanly when a system fails.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548640" y="2468880"/>
            <a:ext cx="3520440" cy="2468880"/>
          </a:xfrm>
          <a:prstGeom prst="roundRect">
            <a:avLst>
              <a:gd name="adj" fmla="val 2963"/>
            </a:avLst>
          </a:prstGeom>
          <a:solidFill>
            <a:srgbClr val="2C3B4E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2788920"/>
            <a:ext cx="3154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990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1 → 4</a:t>
            </a:r>
            <a:endParaRPr lang="en-US" sz="3800" dirty="0"/>
          </a:p>
        </p:txBody>
      </p:sp>
      <p:sp>
        <p:nvSpPr>
          <p:cNvPr id="9" name="Text 7"/>
          <p:cNvSpPr/>
          <p:nvPr/>
        </p:nvSpPr>
        <p:spPr>
          <a:xfrm>
            <a:off x="777240" y="3794760"/>
            <a:ext cx="30632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50" dirty="0">
                <a:solidFill>
                  <a:srgbClr val="C9D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a single denial → appeal → notify journey spans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4389120" y="2468880"/>
            <a:ext cx="3520440" cy="2468880"/>
          </a:xfrm>
          <a:prstGeom prst="roundRect">
            <a:avLst>
              <a:gd name="adj" fmla="val 2963"/>
            </a:avLst>
          </a:prstGeom>
          <a:solidFill>
            <a:srgbClr val="2C3B4E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0" y="2788920"/>
            <a:ext cx="3154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990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0</a:t>
            </a:r>
            <a:endParaRPr lang="en-US" sz="3800" dirty="0"/>
          </a:p>
        </p:txBody>
      </p:sp>
      <p:sp>
        <p:nvSpPr>
          <p:cNvPr id="12" name="Text 10"/>
          <p:cNvSpPr/>
          <p:nvPr/>
        </p:nvSpPr>
        <p:spPr>
          <a:xfrm>
            <a:off x="4617720" y="3794760"/>
            <a:ext cx="30632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50" dirty="0">
                <a:solidFill>
                  <a:srgbClr val="C9D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authority granted — every step authorizes through the same MCP gateway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8229600" y="2468880"/>
            <a:ext cx="3520440" cy="2468880"/>
          </a:xfrm>
          <a:prstGeom prst="roundRect">
            <a:avLst>
              <a:gd name="adj" fmla="val 2963"/>
            </a:avLst>
          </a:prstGeom>
          <a:solidFill>
            <a:srgbClr val="2C3B4E"/>
          </a:solidFill>
          <a:ln/>
        </p:spPr>
      </p:sp>
      <p:sp>
        <p:nvSpPr>
          <p:cNvPr id="14" name="Text 12"/>
          <p:cNvSpPr/>
          <p:nvPr/>
        </p:nvSpPr>
        <p:spPr>
          <a:xfrm>
            <a:off x="8412480" y="2788920"/>
            <a:ext cx="3154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990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100%</a:t>
            </a:r>
            <a:endParaRPr lang="en-US" sz="3800" dirty="0"/>
          </a:p>
        </p:txBody>
      </p:sp>
      <p:sp>
        <p:nvSpPr>
          <p:cNvPr id="15" name="Text 13"/>
          <p:cNvSpPr/>
          <p:nvPr/>
        </p:nvSpPr>
        <p:spPr>
          <a:xfrm>
            <a:off x="8458200" y="3794760"/>
            <a:ext cx="30632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50" dirty="0">
                <a:solidFill>
                  <a:srgbClr val="C9D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steps emit a PHI-masked, hash-chained compliance event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548640" y="521208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8FA1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Reference: care_platform/hpp_care_platform/ · runnable with no API key.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HPP AI Agent Suite</a:t>
            </a:r>
            <a:pPr indent="0" marL="0">
              <a:buNone/>
            </a:pPr>
            <a:r>
              <a:rPr lang="en-US" sz="1100" dirty="0">
                <a:solidFill>
                  <a:srgbClr val="8FA1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Health Providers &amp; Plans   ·   Governed AI on AWS   ·   Care &amp; Claims Platform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8404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32F3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What Customers Are Seeing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234440"/>
            <a:ext cx="5486400" cy="3657600"/>
          </a:xfrm>
          <a:prstGeom prst="roundRect">
            <a:avLst>
              <a:gd name="adj" fmla="val 1500"/>
            </a:avLst>
          </a:prstGeom>
          <a:solidFill>
            <a:srgbClr val="FFFFFF"/>
          </a:solidFill>
          <a:ln w="12700">
            <a:solidFill>
              <a:srgbClr val="E2E8EF"/>
            </a:solidFill>
            <a:prstDash val="solid"/>
          </a:ln>
          <a:effectLst>
            <a:outerShdw sx="100000" sy="100000" kx="0" ky="0" algn="bl" rotWithShape="0" blurRad="76200" dist="25400" dir="5400000">
              <a:srgbClr val="BFC9D4">
                <a:alpha val="4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234440"/>
            <a:ext cx="5486400" cy="457200"/>
          </a:xfrm>
          <a:prstGeom prst="rect">
            <a:avLst/>
          </a:prstGeom>
          <a:solidFill>
            <a:srgbClr val="232F3E"/>
          </a:solidFill>
          <a:ln/>
        </p:spPr>
      </p:sp>
      <p:sp>
        <p:nvSpPr>
          <p:cNvPr id="6" name="Text 4"/>
          <p:cNvSpPr/>
          <p:nvPr/>
        </p:nvSpPr>
        <p:spPr>
          <a:xfrm>
            <a:off x="713232" y="1289304"/>
            <a:ext cx="5212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SITUATION TODAY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49808" y="1828800"/>
            <a:ext cx="5084064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A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Journeys are fragmented across agents and systems of record; handoffs are manual and lose context.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A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half-finished journey (appeal filed, member never notified) is an operational and compliance risk.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A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Sensitive data (42 CFR Part 2) crosses agency lines and needs a consent record, not just a per-tool check.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263640" y="1234440"/>
            <a:ext cx="5394960" cy="3657600"/>
          </a:xfrm>
          <a:prstGeom prst="roundRect">
            <a:avLst>
              <a:gd name="adj" fmla="val 1500"/>
            </a:avLst>
          </a:prstGeom>
          <a:solidFill>
            <a:srgbClr val="FFFFFF"/>
          </a:solidFill>
          <a:ln w="12700">
            <a:solidFill>
              <a:srgbClr val="E2E8EF"/>
            </a:solidFill>
            <a:prstDash val="solid"/>
          </a:ln>
          <a:effectLst>
            <a:outerShdw sx="100000" sy="100000" kx="0" ky="0" algn="bl" rotWithShape="0" blurRad="76200" dist="25400" dir="5400000">
              <a:srgbClr val="BFC9D4">
                <a:alpha val="4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263640" y="1234440"/>
            <a:ext cx="5394960" cy="457200"/>
          </a:xfrm>
          <a:prstGeom prst="rect">
            <a:avLst/>
          </a:prstGeom>
          <a:solidFill>
            <a:srgbClr val="01A88D"/>
          </a:solidFill>
          <a:ln/>
        </p:spPr>
      </p:sp>
      <p:sp>
        <p:nvSpPr>
          <p:cNvPr id="10" name="Text 8"/>
          <p:cNvSpPr/>
          <p:nvPr/>
        </p:nvSpPr>
        <p:spPr>
          <a:xfrm>
            <a:off x="6428232" y="1289304"/>
            <a:ext cx="5120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MARKET IS SOLVING IT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464808" y="1828800"/>
            <a:ext cx="4992624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A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durable saga with compensation — if a step fails, completed steps roll back in reverse.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A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AAL-gated consent ledger checked before any sensitive disclosure; escalate without consent.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A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compliance event bus — a tamper-evident, step-by-step evidence trail for the whole journey.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5074920"/>
            <a:ext cx="11109960" cy="960120"/>
          </a:xfrm>
          <a:prstGeom prst="roundRect">
            <a:avLst>
              <a:gd name="adj" fmla="val 5714"/>
            </a:avLst>
          </a:prstGeom>
          <a:solidFill>
            <a:srgbClr val="232F3E"/>
          </a:solidFill>
          <a:ln/>
        </p:spPr>
      </p:sp>
      <p:sp>
        <p:nvSpPr>
          <p:cNvPr id="13" name="Text 11"/>
          <p:cNvSpPr/>
          <p:nvPr/>
        </p:nvSpPr>
        <p:spPr>
          <a:xfrm>
            <a:off x="777240" y="5138928"/>
            <a:ext cx="10698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line that must hold:  </a:t>
            </a:r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platform never widens authority — every step calls the same gateway with the same acting-user claims; a withheld tool stays denied.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HPP AI Agent Suite</a:t>
            </a:r>
            <a:pPr indent="0" marL="0">
              <a:buNone/>
            </a:pPr>
            <a:r>
              <a:rPr lang="en-US" sz="11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Health Providers &amp; Plans   ·   Governed AI on AWS   ·   Care &amp; Claims Platform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8404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32F3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How We Solve It — Governed, Agentic, Human-Decided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0972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LangGraph workflow on AWS: deterministic nodes + in-account Bedrock drafting, every system call through the deny-by-default MCP gateway, and a framework-enforced human gate before any consequential action.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920240"/>
            <a:ext cx="2090318" cy="566928"/>
          </a:xfrm>
          <a:prstGeom prst="roundRect">
            <a:avLst>
              <a:gd name="adj" fmla="val 8065"/>
            </a:avLst>
          </a:prstGeom>
          <a:solidFill>
            <a:srgbClr val="232F3E"/>
          </a:solidFill>
          <a:ln/>
        </p:spPr>
      </p:sp>
      <p:sp>
        <p:nvSpPr>
          <p:cNvPr id="6" name="Text 4"/>
          <p:cNvSpPr/>
          <p:nvPr/>
        </p:nvSpPr>
        <p:spPr>
          <a:xfrm>
            <a:off x="621792" y="1975104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60120" y="1956816"/>
            <a:ext cx="163311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2803550" y="1920240"/>
            <a:ext cx="2090318" cy="566928"/>
          </a:xfrm>
          <a:prstGeom prst="roundRect">
            <a:avLst>
              <a:gd name="adj" fmla="val 8065"/>
            </a:avLst>
          </a:prstGeom>
          <a:solidFill>
            <a:srgbClr val="232F3E"/>
          </a:solidFill>
          <a:ln/>
        </p:spPr>
      </p:sp>
      <p:sp>
        <p:nvSpPr>
          <p:cNvPr id="9" name="Text 7"/>
          <p:cNvSpPr/>
          <p:nvPr/>
        </p:nvSpPr>
        <p:spPr>
          <a:xfrm>
            <a:off x="2876702" y="1975104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215030" y="1956816"/>
            <a:ext cx="163311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canonical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5058461" y="1920240"/>
            <a:ext cx="2090318" cy="566928"/>
          </a:xfrm>
          <a:prstGeom prst="roundRect">
            <a:avLst>
              <a:gd name="adj" fmla="val 8065"/>
            </a:avLst>
          </a:prstGeom>
          <a:solidFill>
            <a:srgbClr val="232F3E"/>
          </a:solidFill>
          <a:ln/>
        </p:spPr>
      </p:sp>
      <p:sp>
        <p:nvSpPr>
          <p:cNvPr id="12" name="Text 10"/>
          <p:cNvSpPr/>
          <p:nvPr/>
        </p:nvSpPr>
        <p:spPr>
          <a:xfrm>
            <a:off x="5131613" y="1975104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469941" y="1956816"/>
            <a:ext cx="163311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consent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7313371" y="1920240"/>
            <a:ext cx="2090318" cy="566928"/>
          </a:xfrm>
          <a:prstGeom prst="roundRect">
            <a:avLst>
              <a:gd name="adj" fmla="val 8065"/>
            </a:avLst>
          </a:prstGeom>
          <a:solidFill>
            <a:srgbClr val="232F3E"/>
          </a:solidFill>
          <a:ln/>
        </p:spPr>
      </p:sp>
      <p:sp>
        <p:nvSpPr>
          <p:cNvPr id="15" name="Text 13"/>
          <p:cNvSpPr/>
          <p:nvPr/>
        </p:nvSpPr>
        <p:spPr>
          <a:xfrm>
            <a:off x="7386523" y="1975104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7724851" y="1956816"/>
            <a:ext cx="163311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saga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9568282" y="1920240"/>
            <a:ext cx="2090318" cy="566928"/>
          </a:xfrm>
          <a:prstGeom prst="roundRect">
            <a:avLst>
              <a:gd name="adj" fmla="val 8065"/>
            </a:avLst>
          </a:prstGeom>
          <a:solidFill>
            <a:srgbClr val="232F3E"/>
          </a:solidFill>
          <a:ln/>
        </p:spPr>
      </p:sp>
      <p:sp>
        <p:nvSpPr>
          <p:cNvPr id="18" name="Text 16"/>
          <p:cNvSpPr/>
          <p:nvPr/>
        </p:nvSpPr>
        <p:spPr>
          <a:xfrm>
            <a:off x="9641434" y="1975104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9979762" y="1956816"/>
            <a:ext cx="163311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events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548640" y="2743200"/>
            <a:ext cx="11109960" cy="731520"/>
          </a:xfrm>
          <a:prstGeom prst="roundRect">
            <a:avLst>
              <a:gd name="adj" fmla="val 7500"/>
            </a:avLst>
          </a:prstGeom>
          <a:solidFill>
            <a:srgbClr val="C7361F"/>
          </a:solidFill>
          <a:ln/>
        </p:spPr>
      </p:sp>
      <p:sp>
        <p:nvSpPr>
          <p:cNvPr id="21" name="Text 19"/>
          <p:cNvSpPr/>
          <p:nvPr/>
        </p:nvSpPr>
        <p:spPr>
          <a:xfrm>
            <a:off x="777240" y="2798064"/>
            <a:ext cx="106984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REVIEW GATE — the agents' own human gates  </a:t>
            </a:r>
            <a:pPr indent="0" marL="0">
              <a:buNone/>
            </a:pPr>
            <a:r>
              <a:rPr lang="en-US" sz="1300" dirty="0">
                <a:solidFill>
                  <a:srgbClr val="FFE2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approves, edits, or rejects. High-risk writes cannot execute before this (LangGraph interrupt_before / Step Functions waitForTaskToken).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548640" y="3703320"/>
            <a:ext cx="3611880" cy="2103120"/>
          </a:xfrm>
          <a:prstGeom prst="roundRect">
            <a:avLst>
              <a:gd name="adj" fmla="val 2609"/>
            </a:avLst>
          </a:prstGeom>
          <a:solidFill>
            <a:srgbClr val="F4F7FA"/>
          </a:solidFill>
          <a:ln w="12700">
            <a:solidFill>
              <a:srgbClr val="E2E8E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48640" y="3703320"/>
            <a:ext cx="109728" cy="2103120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24" name="Text 22"/>
          <p:cNvSpPr/>
          <p:nvPr/>
        </p:nvSpPr>
        <p:spPr>
          <a:xfrm>
            <a:off x="804672" y="388620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Saga + compensation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804672" y="4389120"/>
            <a:ext cx="32004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half-finished journeys: a downstream failure compensates completed steps in reverse, all audited.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325112" y="3703320"/>
            <a:ext cx="3611880" cy="2103120"/>
          </a:xfrm>
          <a:prstGeom prst="roundRect">
            <a:avLst>
              <a:gd name="adj" fmla="val 2609"/>
            </a:avLst>
          </a:prstGeom>
          <a:solidFill>
            <a:srgbClr val="F4F7FA"/>
          </a:solidFill>
          <a:ln w="12700">
            <a:solidFill>
              <a:srgbClr val="E2E8E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325112" y="3703320"/>
            <a:ext cx="109728" cy="2103120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28" name="Text 26"/>
          <p:cNvSpPr/>
          <p:nvPr/>
        </p:nvSpPr>
        <p:spPr>
          <a:xfrm>
            <a:off x="4581144" y="388620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Consent ledger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4581144" y="4389120"/>
            <a:ext cx="32004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AAL2-gated; 42 CFR Part 2 scopes require an explicit grant or the journey escalates.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8101584" y="3703320"/>
            <a:ext cx="3611880" cy="2103120"/>
          </a:xfrm>
          <a:prstGeom prst="roundRect">
            <a:avLst>
              <a:gd name="adj" fmla="val 2609"/>
            </a:avLst>
          </a:prstGeom>
          <a:solidFill>
            <a:srgbClr val="F4F7FA"/>
          </a:solidFill>
          <a:ln w="12700">
            <a:solidFill>
              <a:srgbClr val="E2E8EF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101584" y="3703320"/>
            <a:ext cx="109728" cy="2103120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32" name="Text 30"/>
          <p:cNvSpPr/>
          <p:nvPr/>
        </p:nvSpPr>
        <p:spPr>
          <a:xfrm>
            <a:off x="8357616" y="388620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Authority never widens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8357616" y="4389120"/>
            <a:ext cx="32004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test asserts a journey step calling a withheld tool (issue_determination) is denied by the same gateway.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HPP AI Agent Suite</a:t>
            </a:r>
            <a:pPr indent="0" marL="0">
              <a:buNone/>
            </a:pPr>
            <a:r>
              <a:rPr lang="en-US" sz="11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Health Providers &amp; Plans   ·   Governed AI on AWS   ·   Care &amp; Claims Platform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8404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32F3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AWS Architecture &amp; Traffic Flow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143000"/>
            <a:ext cx="11109960" cy="548640"/>
          </a:xfrm>
          <a:prstGeom prst="roundRect">
            <a:avLst>
              <a:gd name="adj" fmla="val 8333"/>
            </a:avLst>
          </a:prstGeom>
          <a:solidFill>
            <a:srgbClr val="232F3E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18872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WORKFORCE  ·  Cognito / Identity Center (SAML/OIDC, MFA) → verified claims (custom:hpp_role)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1783080"/>
            <a:ext cx="11109960" cy="548640"/>
          </a:xfrm>
          <a:prstGeom prst="roundRect">
            <a:avLst>
              <a:gd name="adj" fmla="val 8333"/>
            </a:avLst>
          </a:prstGeom>
          <a:solidFill>
            <a:srgbClr val="ED7100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182880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 ·  ECS Fargate (LangGraph) or Step Functions (native, waitForTaskToken HITL)  +  Streamlit console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2423160"/>
            <a:ext cx="11109960" cy="548640"/>
          </a:xfrm>
          <a:prstGeom prst="roundRect">
            <a:avLst>
              <a:gd name="adj" fmla="val 8333"/>
            </a:avLst>
          </a:prstGeom>
          <a:solidFill>
            <a:srgbClr val="FF9900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246888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AUTHORIZATION GATEWAY  ·  deny-by-default + least-privilege intersection + scoped tokens + PHI-masked audit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3063240"/>
            <a:ext cx="11109960" cy="548640"/>
          </a:xfrm>
          <a:prstGeom prst="roundRect">
            <a:avLst>
              <a:gd name="adj" fmla="val 8333"/>
            </a:avLst>
          </a:prstGeom>
          <a:solidFill>
            <a:srgbClr val="01A88D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310896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 ·  Amazon Bedrock (in-account, HIPAA-eligible under BAA) + Guardrails (PHI filters)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3703320"/>
            <a:ext cx="11109960" cy="548640"/>
          </a:xfrm>
          <a:prstGeom prst="roundRect">
            <a:avLst>
              <a:gd name="adj" fmla="val 8333"/>
            </a:avLst>
          </a:prstGeom>
          <a:solidFill>
            <a:srgbClr val="5A6B7B"/>
          </a:solidFill>
          <a:ln/>
        </p:spPr>
      </p:sp>
      <p:sp>
        <p:nvSpPr>
          <p:cNvPr id="13" name="Text 11"/>
          <p:cNvSpPr/>
          <p:nvPr/>
        </p:nvSpPr>
        <p:spPr>
          <a:xfrm>
            <a:off x="777240" y="374904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CONNECTORS (governed Lambda)  →  each step → the owning agent's tools, through the gateway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4343400"/>
            <a:ext cx="11109960" cy="548640"/>
          </a:xfrm>
          <a:prstGeom prst="roundRect">
            <a:avLst>
              <a:gd name="adj" fmla="val 8333"/>
            </a:avLst>
          </a:prstGeom>
          <a:solidFill>
            <a:srgbClr val="C925D1"/>
          </a:solidFill>
          <a:ln/>
        </p:spPr>
      </p:sp>
      <p:sp>
        <p:nvSpPr>
          <p:cNvPr id="15" name="Text 13"/>
          <p:cNvSpPr/>
          <p:nvPr/>
        </p:nvSpPr>
        <p:spPr>
          <a:xfrm>
            <a:off x="777240" y="438912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 ·  DynamoDB append-only audit (PITR, deny Update/Delete) · HITL table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4983480"/>
            <a:ext cx="11109960" cy="548640"/>
          </a:xfrm>
          <a:prstGeom prst="roundRect">
            <a:avLst>
              <a:gd name="adj" fmla="val 8333"/>
            </a:avLst>
          </a:prstGeom>
          <a:solidFill>
            <a:srgbClr val="7AA116"/>
          </a:solidFill>
          <a:ln/>
        </p:spPr>
      </p:sp>
      <p:sp>
        <p:nvSpPr>
          <p:cNvPr id="17" name="Text 15"/>
          <p:cNvSpPr/>
          <p:nvPr/>
        </p:nvSpPr>
        <p:spPr>
          <a:xfrm>
            <a:off x="777240" y="502920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 Object Lock (WORM) — finalized snapshots · KMS CMK throughout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48640" y="5669280"/>
            <a:ext cx="11109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 never leaves the customer VPC: inference is in-account on Bedrock via a VPC endpoint; every tool call is authorized, scoped-token-minted, and PHI-masked-audited. CloudFormation + Terraform; native or container deploy.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HPP AI Agent Suite</a:t>
            </a:r>
            <a:pPr indent="0" marL="0">
              <a:buNone/>
            </a:pPr>
            <a:r>
              <a:rPr lang="en-US" sz="11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Health Providers &amp; Plans   ·   Governed AI on AWS   ·   Care &amp; Claims Platform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232F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Why This Is Defensible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0561320" y="384048"/>
            <a:ext cx="1234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3000" b="1" spc="100" kern="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966960" y="8686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DC3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on AWS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280160"/>
            <a:ext cx="11109960" cy="868680"/>
          </a:xfrm>
          <a:prstGeom prst="roundRect">
            <a:avLst>
              <a:gd name="adj" fmla="val 6316"/>
            </a:avLst>
          </a:prstGeom>
          <a:solidFill>
            <a:srgbClr val="2C3B4E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1353312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bright line:  </a:t>
            </a:r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Orchestration is sequencing + compensation + evidence — never a new privilege. The human gates and withheld authorities of each agent apply unchanged.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85800" y="2468880"/>
            <a:ext cx="649224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C9D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AWS-native form: a Step Functions state machine (Catch → compensate; waitForTaskToken gate).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C9D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forward and compensating step emits a hash-chained compliance event (verify_chain).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C9D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Consent (42 CFR Part 2) is recorded at the journey level and enforced per-tool at the gateway.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C9D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Adopt agent by agent — the same agents become saga steps unchanged.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7406640" y="2468880"/>
            <a:ext cx="4251960" cy="3108960"/>
          </a:xfrm>
          <a:prstGeom prst="roundRect">
            <a:avLst>
              <a:gd name="adj" fmla="val 2353"/>
            </a:avLst>
          </a:prstGeom>
          <a:solidFill>
            <a:srgbClr val="2C3B4E"/>
          </a:solidFill>
          <a:ln/>
        </p:spPr>
      </p:sp>
      <p:sp>
        <p:nvSpPr>
          <p:cNvPr id="10" name="Text 8"/>
          <p:cNvSpPr/>
          <p:nvPr/>
        </p:nvSpPr>
        <p:spPr>
          <a:xfrm>
            <a:off x="7635240" y="265176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1A8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GOOD LOOKS LIKE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635240" y="3108960"/>
            <a:ext cx="384048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C9D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Denial → resolution journey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C9D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Admission → follow-up journey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C9D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New-member onboarding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C9D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half-finished journeys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C9D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evidence trail per journey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48640" y="598932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FA1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story: ENTERPRISE-PLATFORM.md · run: aws-native-reference/care-platform/local_runner.py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HPP AI Agent Suite</a:t>
            </a:r>
            <a:pPr indent="0" marL="0">
              <a:buNone/>
            </a:pPr>
            <a:r>
              <a:rPr lang="en-US" sz="1100" dirty="0">
                <a:solidFill>
                  <a:srgbClr val="8FA1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Health Providers &amp; Plans   ·   Governed AI on AWS   ·   Care &amp; Claims Platform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232F3E"/>
      </a:dk2>
      <a:lt2>
        <a:srgbClr val="E7E6E6"/>
      </a:lt2>
      <a:accent1>
        <a:srgbClr val="FF9900"/>
      </a:accent1>
      <a:accent2>
        <a:srgbClr val="232F3E"/>
      </a:accent2>
      <a:accent3>
        <a:srgbClr val="01A88D"/>
      </a:accent3>
      <a:accent4>
        <a:srgbClr val="8C4FFF"/>
      </a:accent4>
      <a:accent5>
        <a:srgbClr val="DD344C"/>
      </a:accent5>
      <a:accent6>
        <a:srgbClr val="ED7100"/>
      </a:accent6>
      <a:hlink>
        <a:srgbClr val="0563C1"/>
      </a:hlink>
      <a:folHlink>
        <a:srgbClr val="954F72"/>
      </a:folHlink>
    </a:clrScheme>
    <a:fontScheme name="Office">
      <a:majorFont>
        <a:latin typeface="Amazon Ember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mazon Ember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2026-06-28T22:46:55Z</dcterms:created>
  <dcterms:modified xsi:type="dcterms:W3CDTF">2026-06-28T22:46:55Z</dcterms:modified>
</cp:coreProperties>
</file>