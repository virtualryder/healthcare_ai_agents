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13"/>
  </p:sldIdLst>
  <p:notesMasterIdLst>
    <p:notesMasterId r:id="rId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6400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HPP-06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0561320" y="384048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000" b="1" spc="10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966960" y="8686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DC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on AWS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554480"/>
            <a:ext cx="110642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Payment Integrity &amp; Coding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548640" y="3383280"/>
            <a:ext cx="107899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Validates codes (NCCI/MUE), checks medical necessity, flags overpayments and duplicates — a reviewer confirms.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548640" y="502920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assists, drafts, assembles, flags, recommends — a licensed human decides every consequential action.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 AI Agent Suite</a:t>
            </a:r>
            <a:pPr indent="0" marL="0">
              <a:buNone/>
            </a:pPr>
            <a:r>
              <a:rPr lang="en-US" sz="11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Health Providers &amp; Plans   ·   Governed AI on AWS   ·   HPP-06</a:t>
            </a:r>
            <a:endParaRPr lang="en-US" sz="1100" dirty="0"/>
          </a:p>
        </p:txBody>
      </p:sp>
      <p:sp>
        <p:nvSpPr>
          <p:cNvPr id="10" name="TextBox 9"/>
          <p:cNvSpPr txBox="1"/>
          <p:nvPr/>
        </p:nvSpPr>
        <p:spPr>
          <a:xfrm>
            <a:off x="365760" y="6291072"/>
            <a:ext cx="11460175" cy="45720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800" i="1">
                <a:solidFill>
                  <a:srgbClr val="879296"/>
                </a:solidFill>
              </a:rPr>
              <a:t>Reference accelerator — not an AWS service, not AWS-supported software, not a compliance certification, and not production-ready for regulated data without customer-specific engineering, testing, authorization, and operational ownership.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The Issue &amp; What It Costs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561320" y="384048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000" b="1" spc="10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966960" y="8686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DC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on AWS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3258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Improper payments and coding defects run to tens of billions a year — and drive both denials and False Claims Act exposure.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2468880"/>
            <a:ext cx="3520440" cy="2468880"/>
          </a:xfrm>
          <a:prstGeom prst="roundRect">
            <a:avLst>
              <a:gd name="adj" fmla="val 2963"/>
            </a:avLst>
          </a:prstGeom>
          <a:solidFill>
            <a:srgbClr val="2C3B4E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2788920"/>
            <a:ext cx="3154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990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$28.8B / $37.4B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777240" y="3794760"/>
            <a:ext cx="30632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FY2025 Medicare FFS / Medicaid improper payments (6.55% / 6.12%)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389120" y="2468880"/>
            <a:ext cx="3520440" cy="2468880"/>
          </a:xfrm>
          <a:prstGeom prst="roundRect">
            <a:avLst>
              <a:gd name="adj" fmla="val 2963"/>
            </a:avLst>
          </a:prstGeom>
          <a:solidFill>
            <a:srgbClr val="2C3B4E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0" y="2788920"/>
            <a:ext cx="3154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990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~$40B</a:t>
            </a:r>
            <a:endParaRPr lang="en-US" sz="3800" dirty="0"/>
          </a:p>
        </p:txBody>
      </p:sp>
      <p:sp>
        <p:nvSpPr>
          <p:cNvPr id="12" name="Text 10"/>
          <p:cNvSpPr/>
          <p:nvPr/>
        </p:nvSpPr>
        <p:spPr>
          <a:xfrm>
            <a:off x="4617720" y="3794760"/>
            <a:ext cx="30632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Medicare Advantage overpayment attributed to coding differences (MedPAC 2025)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8229600" y="2468880"/>
            <a:ext cx="3520440" cy="2468880"/>
          </a:xfrm>
          <a:prstGeom prst="roundRect">
            <a:avLst>
              <a:gd name="adj" fmla="val 2963"/>
            </a:avLst>
          </a:prstGeom>
          <a:solidFill>
            <a:srgbClr val="2C3B4E"/>
          </a:solidFill>
          <a:ln/>
        </p:spPr>
      </p:sp>
      <p:sp>
        <p:nvSpPr>
          <p:cNvPr id="14" name="Text 12"/>
          <p:cNvSpPr/>
          <p:nvPr/>
        </p:nvSpPr>
        <p:spPr>
          <a:xfrm>
            <a:off x="8412480" y="2788920"/>
            <a:ext cx="3154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990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22.3 : 1</a:t>
            </a:r>
            <a:endParaRPr lang="en-US" sz="3800" dirty="0"/>
          </a:p>
        </p:txBody>
      </p:sp>
      <p:sp>
        <p:nvSpPr>
          <p:cNvPr id="15" name="Text 13"/>
          <p:cNvSpPr/>
          <p:nvPr/>
        </p:nvSpPr>
        <p:spPr>
          <a:xfrm>
            <a:off x="8458200" y="3794760"/>
            <a:ext cx="30632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FY2025 Medicare program-integrity ROI (savings $26.3B → $41.9B, +59%)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548640" y="521208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CMS FY2025 Improper Payments Fact Sheet; MedPAC 2025 [gov].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 AI Agent Suite</a:t>
            </a:r>
            <a:pPr indent="0" marL="0">
              <a:buNone/>
            </a:pPr>
            <a:r>
              <a:rPr lang="en-US" sz="11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Health Providers &amp; Plans   ·   Governed AI on AWS   ·   HPP-06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32F3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What Customers Are Seeing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234440"/>
            <a:ext cx="5486400" cy="3657600"/>
          </a:xfrm>
          <a:prstGeom prst="roundRect">
            <a:avLst>
              <a:gd name="adj" fmla="val 1500"/>
            </a:avLst>
          </a:prstGeom>
          <a:solidFill>
            <a:srgbClr val="FFFFFF"/>
          </a:solidFill>
          <a:ln w="12700">
            <a:solidFill>
              <a:srgbClr val="E2E8EF"/>
            </a:solidFill>
            <a:prstDash val="solid"/>
          </a:ln>
          <a:effectLst>
            <a:outerShdw sx="100000" sy="100000" kx="0" ky="0" algn="bl" rotWithShape="0" blurRad="76200" dist="25400" dir="5400000">
              <a:srgbClr val="BFC9D4">
                <a:alpha val="4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234440"/>
            <a:ext cx="5486400" cy="45720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1289304"/>
            <a:ext cx="5212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SITUATION TODAY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49808" y="1828800"/>
            <a:ext cx="5084064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Coding defects are a leading denial root cause (CO-16/CO-11) and a False Claims Act / OIG exposure surface.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77% of Medicaid improper payments are insufficient documentation — a documentation problem, not always fraud.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Payers and providers both need pre- and post-pay integrity review at scale.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263640" y="1234440"/>
            <a:ext cx="5394960" cy="3657600"/>
          </a:xfrm>
          <a:prstGeom prst="roundRect">
            <a:avLst>
              <a:gd name="adj" fmla="val 1500"/>
            </a:avLst>
          </a:prstGeom>
          <a:solidFill>
            <a:srgbClr val="FFFFFF"/>
          </a:solidFill>
          <a:ln w="12700">
            <a:solidFill>
              <a:srgbClr val="E2E8EF"/>
            </a:solidFill>
            <a:prstDash val="solid"/>
          </a:ln>
          <a:effectLst>
            <a:outerShdw sx="100000" sy="100000" kx="0" ky="0" algn="bl" rotWithShape="0" blurRad="76200" dist="25400" dir="5400000">
              <a:srgbClr val="BFC9D4">
                <a:alpha val="4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263640" y="1234440"/>
            <a:ext cx="5394960" cy="457200"/>
          </a:xfrm>
          <a:prstGeom prst="rect">
            <a:avLst/>
          </a:prstGeom>
          <a:solidFill>
            <a:srgbClr val="01A88D"/>
          </a:solidFill>
          <a:ln/>
        </p:spPr>
      </p:sp>
      <p:sp>
        <p:nvSpPr>
          <p:cNvPr id="10" name="Text 8"/>
          <p:cNvSpPr/>
          <p:nvPr/>
        </p:nvSpPr>
        <p:spPr>
          <a:xfrm>
            <a:off x="6428232" y="1289304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MARKET IS SOLVING IT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64808" y="1828800"/>
            <a:ext cx="4992624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Program-integrity ROI is at a record 22.3:1; CMS is leaning into data-driven FWA review.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coding and edit engines (NCCI/MUE) surface upcoding, bundling, and duplicates.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defensible pattern: surface a flag for a human reviewer — never an automated recoupment.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5074920"/>
            <a:ext cx="11109960" cy="960120"/>
          </a:xfrm>
          <a:prstGeom prst="roundRect">
            <a:avLst>
              <a:gd name="adj" fmla="val 5714"/>
            </a:avLst>
          </a:prstGeom>
          <a:solidFill>
            <a:srgbClr val="232F3E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5138928"/>
            <a:ext cx="10698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line that must hold:  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validates codes and flags overpayment, upcoding, duplicates, and unsupported necessity; a payment-integrity reviewer confirms — the agent never recoups or submits.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 AI Agent Suite</a:t>
            </a:r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Health Providers &amp; Plans   ·   Governed AI on AWS   ·   HPP-06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32F3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How We Solve It — Governed, Agentic, Human-Decided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972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LangGraph workflow on AWS: deterministic nodes + in-account Bedrock drafting, every system call through the deny-by-default MCP gateway, and a framework-enforced human gate before any consequential action.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2090318" cy="566928"/>
          </a:xfrm>
          <a:prstGeom prst="roundRect">
            <a:avLst>
              <a:gd name="adj" fmla="val 8065"/>
            </a:avLst>
          </a:prstGeom>
          <a:solidFill>
            <a:srgbClr val="232F3E"/>
          </a:solidFill>
          <a:ln/>
        </p:spPr>
      </p:sp>
      <p:sp>
        <p:nvSpPr>
          <p:cNvPr id="6" name="Text 4"/>
          <p:cNvSpPr/>
          <p:nvPr/>
        </p:nvSpPr>
        <p:spPr>
          <a:xfrm>
            <a:off x="621792" y="1975104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60120" y="1956816"/>
            <a:ext cx="163311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load_claim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803550" y="1920240"/>
            <a:ext cx="2090318" cy="566928"/>
          </a:xfrm>
          <a:prstGeom prst="roundRect">
            <a:avLst>
              <a:gd name="adj" fmla="val 8065"/>
            </a:avLst>
          </a:prstGeom>
          <a:solidFill>
            <a:srgbClr val="232F3E"/>
          </a:solidFill>
          <a:ln/>
        </p:spPr>
      </p:sp>
      <p:sp>
        <p:nvSpPr>
          <p:cNvPr id="9" name="Text 7"/>
          <p:cNvSpPr/>
          <p:nvPr/>
        </p:nvSpPr>
        <p:spPr>
          <a:xfrm>
            <a:off x="2876702" y="1975104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215030" y="1956816"/>
            <a:ext cx="163311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analyze_coding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058461" y="1920240"/>
            <a:ext cx="2090318" cy="566928"/>
          </a:xfrm>
          <a:prstGeom prst="roundRect">
            <a:avLst>
              <a:gd name="adj" fmla="val 8065"/>
            </a:avLst>
          </a:prstGeom>
          <a:solidFill>
            <a:srgbClr val="232F3E"/>
          </a:solidFill>
          <a:ln/>
        </p:spPr>
      </p:sp>
      <p:sp>
        <p:nvSpPr>
          <p:cNvPr id="12" name="Text 10"/>
          <p:cNvSpPr/>
          <p:nvPr/>
        </p:nvSpPr>
        <p:spPr>
          <a:xfrm>
            <a:off x="5131613" y="1975104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469941" y="1956816"/>
            <a:ext cx="163311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detect_issues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7313371" y="1920240"/>
            <a:ext cx="2090318" cy="566928"/>
          </a:xfrm>
          <a:prstGeom prst="roundRect">
            <a:avLst>
              <a:gd name="adj" fmla="val 8065"/>
            </a:avLst>
          </a:prstGeom>
          <a:solidFill>
            <a:srgbClr val="232F3E"/>
          </a:solidFill>
          <a:ln/>
        </p:spPr>
      </p:sp>
      <p:sp>
        <p:nvSpPr>
          <p:cNvPr id="15" name="Text 13"/>
          <p:cNvSpPr/>
          <p:nvPr/>
        </p:nvSpPr>
        <p:spPr>
          <a:xfrm>
            <a:off x="7386523" y="1975104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7724851" y="1956816"/>
            <a:ext cx="163311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draft_finding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9568282" y="1920240"/>
            <a:ext cx="2090318" cy="566928"/>
          </a:xfrm>
          <a:prstGeom prst="roundRect">
            <a:avLst>
              <a:gd name="adj" fmla="val 8065"/>
            </a:avLst>
          </a:prstGeom>
          <a:solidFill>
            <a:srgbClr val="232F3E"/>
          </a:solidFill>
          <a:ln/>
        </p:spPr>
      </p:sp>
      <p:sp>
        <p:nvSpPr>
          <p:cNvPr id="18" name="Text 16"/>
          <p:cNvSpPr/>
          <p:nvPr/>
        </p:nvSpPr>
        <p:spPr>
          <a:xfrm>
            <a:off x="9641434" y="1975104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979762" y="1956816"/>
            <a:ext cx="163311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compliance_check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48640" y="2743200"/>
            <a:ext cx="11109960" cy="731520"/>
          </a:xfrm>
          <a:prstGeom prst="roundRect">
            <a:avLst>
              <a:gd name="adj" fmla="val 7500"/>
            </a:avLst>
          </a:prstGeom>
          <a:solidFill>
            <a:srgbClr val="C7361F"/>
          </a:solidFill>
          <a:ln/>
        </p:spPr>
      </p:sp>
      <p:sp>
        <p:nvSpPr>
          <p:cNvPr id="21" name="Text 19"/>
          <p:cNvSpPr/>
          <p:nvPr/>
        </p:nvSpPr>
        <p:spPr>
          <a:xfrm>
            <a:off x="777240" y="2798064"/>
            <a:ext cx="106984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REVIEW GATE — Payment-Integrity Reviewer  </a:t>
            </a:r>
            <a:pPr indent="0" marL="0">
              <a:buNone/>
            </a:pPr>
            <a:r>
              <a:rPr lang="en-US" sz="1300" dirty="0">
                <a:solidFill>
                  <a:srgbClr val="FFE2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approves, edits, or rejects. High-risk writes cannot execute before this (LangGraph interrupt_before / Step Functions waitForTaskToken).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48640" y="3703320"/>
            <a:ext cx="3611880" cy="2103120"/>
          </a:xfrm>
          <a:prstGeom prst="roundRect">
            <a:avLst>
              <a:gd name="adj" fmla="val 2609"/>
            </a:avLst>
          </a:prstGeom>
          <a:solidFill>
            <a:srgbClr val="F4F7FA"/>
          </a:solidFill>
          <a:ln w="12700">
            <a:solidFill>
              <a:srgbClr val="E2E8E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3703320"/>
            <a:ext cx="109728" cy="21031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24" name="Text 22"/>
          <p:cNvSpPr/>
          <p:nvPr/>
        </p:nvSpPr>
        <p:spPr>
          <a:xfrm>
            <a:off x="804672" y="38862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Flags, never acts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804672" y="4389120"/>
            <a:ext cx="32004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recoupment, payment adjustment, or claim submission — submit_claim is withheld; the agent records a review flag.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325112" y="3703320"/>
            <a:ext cx="3611880" cy="2103120"/>
          </a:xfrm>
          <a:prstGeom prst="roundRect">
            <a:avLst>
              <a:gd name="adj" fmla="val 2609"/>
            </a:avLst>
          </a:prstGeom>
          <a:solidFill>
            <a:srgbClr val="F4F7FA"/>
          </a:solidFill>
          <a:ln w="12700">
            <a:solidFill>
              <a:srgbClr val="E2E8E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703320"/>
            <a:ext cx="109728" cy="21031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28" name="Text 26"/>
          <p:cNvSpPr/>
          <p:nvPr/>
        </p:nvSpPr>
        <p:spPr>
          <a:xfrm>
            <a:off x="4581144" y="38862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Edit-grounded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4581144" y="4389120"/>
            <a:ext cx="32004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NCCI/MUE results, the documentation-supported codes, and coverage policy back every finding.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8101584" y="3703320"/>
            <a:ext cx="3611880" cy="2103120"/>
          </a:xfrm>
          <a:prstGeom prst="roundRect">
            <a:avLst>
              <a:gd name="adj" fmla="val 2609"/>
            </a:avLst>
          </a:prstGeom>
          <a:solidFill>
            <a:srgbClr val="F4F7FA"/>
          </a:solidFill>
          <a:ln w="12700">
            <a:solidFill>
              <a:srgbClr val="E2E8E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101584" y="3703320"/>
            <a:ext cx="109728" cy="21031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2" name="Text 30"/>
          <p:cNvSpPr/>
          <p:nvPr/>
        </p:nvSpPr>
        <p:spPr>
          <a:xfrm>
            <a:off x="8357616" y="38862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flag, not a verdict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8357616" y="4389120"/>
            <a:ext cx="32004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mismatch is a prompt for a human reviewer to confirm — never an assertion of fraud.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 AI Agent Suite</a:t>
            </a:r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Health Providers &amp; Plans   ·   Governed AI on AWS   ·   HPP-06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32F3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AWS Architecture &amp; Traffic Flow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143000"/>
            <a:ext cx="11109960" cy="548640"/>
          </a:xfrm>
          <a:prstGeom prst="roundRect">
            <a:avLst>
              <a:gd name="adj" fmla="val 8333"/>
            </a:avLst>
          </a:prstGeom>
          <a:solidFill>
            <a:srgbClr val="232F3E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18872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WORKFORCE  ·  Cognito / Identity Center (SAML/OIDC, MFA) → verified claims (custom:hpp_role)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11109960" cy="548640"/>
          </a:xfrm>
          <a:prstGeom prst="roundRect">
            <a:avLst>
              <a:gd name="adj" fmla="val 8333"/>
            </a:avLst>
          </a:prstGeom>
          <a:solidFill>
            <a:srgbClr val="ED7100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82880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 ·  ECS Fargate (LangGraph) or Step Functions (native, waitForTaskToken HITL)  +  Streamlit console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423160"/>
            <a:ext cx="11109960" cy="548640"/>
          </a:xfrm>
          <a:prstGeom prst="roundRect">
            <a:avLst>
              <a:gd name="adj" fmla="val 8333"/>
            </a:avLst>
          </a:prstGeom>
          <a:solidFill>
            <a:srgbClr val="FF9900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24688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AUTHORIZATION GATEWAY  ·  deny-by-default + least-privilege intersection + scoped tokens + PHI-masked audit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3063240"/>
            <a:ext cx="11109960" cy="548640"/>
          </a:xfrm>
          <a:prstGeom prst="roundRect">
            <a:avLst>
              <a:gd name="adj" fmla="val 8333"/>
            </a:avLst>
          </a:prstGeom>
          <a:solidFill>
            <a:srgbClr val="01A88D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310896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 ·  Amazon Bedrock (in-account, HIPAA-eligible under BAA) + Guardrails (PHI filters)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703320"/>
            <a:ext cx="11109960" cy="548640"/>
          </a:xfrm>
          <a:prstGeom prst="roundRect">
            <a:avLst>
              <a:gd name="adj" fmla="val 8333"/>
            </a:avLst>
          </a:prstGeom>
          <a:solidFill>
            <a:srgbClr val="5A6B7B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374904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CONNECTORS (governed Lambda)  →  Encoder (NCCI/MUE, DRG) · Patient accounting · Clearinghouse · EHR/FHIR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4343400"/>
            <a:ext cx="11109960" cy="548640"/>
          </a:xfrm>
          <a:prstGeom prst="roundRect">
            <a:avLst>
              <a:gd name="adj" fmla="val 8333"/>
            </a:avLst>
          </a:prstGeom>
          <a:solidFill>
            <a:srgbClr val="C925D1"/>
          </a:solidFill>
          <a:ln/>
        </p:spPr>
      </p:sp>
      <p:sp>
        <p:nvSpPr>
          <p:cNvPr id="15" name="Text 13"/>
          <p:cNvSpPr/>
          <p:nvPr/>
        </p:nvSpPr>
        <p:spPr>
          <a:xfrm>
            <a:off x="777240" y="438912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 ·  DynamoDB append-only audit (PITR, deny Update/Delete) · HITL table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4983480"/>
            <a:ext cx="11109960" cy="548640"/>
          </a:xfrm>
          <a:prstGeom prst="roundRect">
            <a:avLst>
              <a:gd name="adj" fmla="val 8333"/>
            </a:avLst>
          </a:prstGeom>
          <a:solidFill>
            <a:srgbClr val="7AA116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502920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Object Lock (WORM) — finalized snapshots · KMS CMK throughout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48640" y="5669280"/>
            <a:ext cx="11109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 never leaves the customer VPC: inference is in-account on Bedrock via a VPC endpoint; every tool call is authorized, scoped-token-minted, and PHI-masked-audited. CloudFormation + Terraform; native or container deploy.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 AI Agent Suite</a:t>
            </a:r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Health Providers &amp; Plans   ·   Governed AI on AWS   ·   HPP-06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Why This Is Defensible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561320" y="384048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000" b="1" spc="10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966960" y="8686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DC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on AWS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280160"/>
            <a:ext cx="11109960" cy="868680"/>
          </a:xfrm>
          <a:prstGeom prst="roundRect">
            <a:avLst>
              <a:gd name="adj" fmla="val 6316"/>
            </a:avLst>
          </a:prstGeom>
          <a:solidFill>
            <a:srgbClr val="2C3B4E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353312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bright line:  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flags only — no recoupment, payment adjustment, or claim submission. A mismatch is a flag for review, never proof.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85800" y="2468880"/>
            <a:ext cx="649224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Two-sided value: fewer coding-driven denials for providers, surfaced recoveries for payers.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Lowers False Claims Act exposure by catching upcoding and unsupported necessity pre-bill.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finding is grounded in edits and documentation; a human confirms before any action.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Compounds with Agent 01 — coding defects are a top denial root cause.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406640" y="2468880"/>
            <a:ext cx="4251960" cy="3108960"/>
          </a:xfrm>
          <a:prstGeom prst="roundRect">
            <a:avLst>
              <a:gd name="adj" fmla="val 2353"/>
            </a:avLst>
          </a:prstGeom>
          <a:solidFill>
            <a:srgbClr val="2C3B4E"/>
          </a:solidFill>
          <a:ln/>
        </p:spPr>
      </p:sp>
      <p:sp>
        <p:nvSpPr>
          <p:cNvPr id="10" name="Text 8"/>
          <p:cNvSpPr/>
          <p:nvPr/>
        </p:nvSpPr>
        <p:spPr>
          <a:xfrm>
            <a:off x="7635240" y="265176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1A8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GOOD LOOKS LIKE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635240" y="3108960"/>
            <a:ext cx="384048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coding-driven denials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Surfaced overpayments / duplicates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FCA / OIG exposure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Human-confirmed, audited flags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8640" y="598932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CMS FY2025; MedPAC. Maturity: Demonstrated + Deployable-by-design.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 AI Agent Suite</a:t>
            </a:r>
            <a:pPr indent="0" marL="0">
              <a:buNone/>
            </a:pPr>
            <a:r>
              <a:rPr lang="en-US" sz="11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Health Providers &amp; Plans   ·   Governed AI on AWS   ·   HPP-06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051560"/>
            <a:ext cx="2011680" cy="82296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3444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</a:rPr>
              <a:t>Disclaimer &amp; Shared Responsibility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68880"/>
            <a:ext cx="10545775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D5DBDB"/>
                </a:solidFill>
              </a:rPr>
              <a:t>Reference accelerator — not an AWS service, not AWS-supported software, not a compliance certification, and not production-ready for regulated data without customer-specific engineering, testing, authorization, and operational ownership.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D5DBDB"/>
                </a:solidFill>
              </a:rPr>
              <a:t>Built on AWS; not affiliated with or endorsed by Amazon Web Services.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32F3E"/>
      </a:dk2>
      <a:lt2>
        <a:srgbClr val="E7E6E6"/>
      </a:lt2>
      <a:accent1>
        <a:srgbClr val="FF9900"/>
      </a:accent1>
      <a:accent2>
        <a:srgbClr val="232F3E"/>
      </a:accent2>
      <a:accent3>
        <a:srgbClr val="01A88D"/>
      </a:accent3>
      <a:accent4>
        <a:srgbClr val="8C4FFF"/>
      </a:accent4>
      <a:accent5>
        <a:srgbClr val="DD344C"/>
      </a:accent5>
      <a:accent6>
        <a:srgbClr val="ED7100"/>
      </a:accent6>
      <a:hlink>
        <a:srgbClr val="0563C1"/>
      </a:hlink>
      <a:folHlink>
        <a:srgbClr val="954F72"/>
      </a:folHlink>
    </a:clrScheme>
    <a:fontScheme name="Office">
      <a:majorFont>
        <a:latin typeface="Amazon Ember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mazon Ember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HPP AI Agent Suite</dc:creator>
  <cp:lastModifiedBy>HPP AI Agent Suite</cp:lastModifiedBy>
  <cp:revision>1</cp:revision>
  <dcterms:created xsi:type="dcterms:W3CDTF">2026-06-28T22:46:54Z</dcterms:created>
  <dcterms:modified xsi:type="dcterms:W3CDTF">2026-06-28T22:46:54Z</dcterms:modified>
</cp:coreProperties>
</file>