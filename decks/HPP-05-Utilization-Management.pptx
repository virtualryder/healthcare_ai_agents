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HPP-05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61320" y="38404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966960" y="868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AWS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Utilization Management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clinical criteria, screens for disparate impact, prepares a recommendation — the medical director decides.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50292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assists, drafts, assembles, flags, recommends — a licensed human decides every consequential action.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AI Agent Suite</a:t>
            </a:r>
            <a:pPr indent="0" marL="0">
              <a:buNone/>
            </a:pPr>
            <a:r>
              <a:rPr lang="en-US" sz="11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Providers &amp; Plans   ·   Governed AI on AWS   ·   HPP-05</a:t>
            </a:r>
            <a:endParaRPr lang="en-US" sz="1100" dirty="0"/>
          </a:p>
        </p:txBody>
      </p:sp>
      <p:sp>
        <p:nvSpPr>
          <p:cNvPr id="10" name="TextBox 9"/>
          <p:cNvSpPr txBox="1"/>
          <p:nvPr/>
        </p:nvSpPr>
        <p:spPr>
          <a:xfrm>
            <a:off x="365760" y="6291072"/>
            <a:ext cx="11460175" cy="4572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800" i="1">
                <a:solidFill>
                  <a:srgbClr val="879296"/>
                </a:solidFill>
              </a:rPr>
              <a:t>Reference accelerator — not an AWS service, not AWS-supported software, not a compliance certification, and not production-ready for regulated data without customer-specific engineering, testing, authorization, and operational ownership.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Issue &amp; What It Costs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561320" y="38404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966960" y="868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AWS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management is high-volume and under intense regulatory and legal scrutiny over algorithmic denials.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2C3B4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78892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99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8.7%→22.7%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777240" y="37947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insurer's post-acute denial rate after deploying an AI tool (2019–2022, Senate report)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89120" y="246888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2C3B4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78892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99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~82%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617720" y="37947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overturn-on-appeal rate cited for some AI prior-auth/denial tools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0" y="246888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2C3B4E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278892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99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70%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8458200" y="37947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health plans prioritizing agentic AI for UM, prior auth, and claims (Deloitte)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U.S. Senate PSI 2024; AI-PA litigation; Deloitte Sep 2025 [gov]/[industry-research].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AI Agent Suite</a:t>
            </a:r>
            <a:pPr indent="0" marL="0">
              <a:buNone/>
            </a:pPr>
            <a:r>
              <a:rPr lang="en-US" sz="11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Providers &amp; Plans   ·   Governed AI on AWS   ·   HPP-05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Customers Are Seeing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48640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4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34440"/>
            <a:ext cx="5486400" cy="4572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289304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 TODAY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1828800"/>
            <a:ext cx="5084064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UM is in the headlines: lawsuits over AI-driven post-acute denials and high overturn rates.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launched the WISeR model (July 2025, 6 states) tracking overturned-denial rates as a benchmark.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is explicit: AI may assist, but a human must make the Medicare Advantage coverage determination.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234440"/>
            <a:ext cx="539496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4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234440"/>
            <a:ext cx="5394960" cy="457200"/>
          </a:xfrm>
          <a:prstGeom prst="rect">
            <a:avLst/>
          </a:prstGeom>
          <a:solidFill>
            <a:srgbClr val="01A88D"/>
          </a:solidFill>
          <a:ln/>
        </p:spPr>
      </p:sp>
      <p:sp>
        <p:nvSpPr>
          <p:cNvPr id="10" name="Text 8"/>
          <p:cNvSpPr/>
          <p:nvPr/>
        </p:nvSpPr>
        <p:spPr>
          <a:xfrm>
            <a:off x="6428232" y="1289304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MARKET IS SOLVING 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64808" y="1828800"/>
            <a:ext cx="4992624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want UM efficiency but cannot accept algorithmic denials — the governance gap is the blocker.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programs apply criteria with AI and keep the determination with a medical director.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screening and audit trails are becoming table stakes for any AI-in-UM deployment.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11109960" cy="960120"/>
          </a:xfrm>
          <a:prstGeom prst="roundRect">
            <a:avLst>
              <a:gd name="adj" fmla="val 5714"/>
            </a:avLst>
          </a:prstGeom>
          <a:solidFill>
            <a:srgbClr val="232F3E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138928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that must hold: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applies criteria and recommends; the medical director decides. issue_determination is withheld from EVERY agent — an adverse recommendation is forwarded, never auto-denied.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AI Agent Suite</a:t>
            </a:r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Providers &amp; Plans   ·   Governed AI on AWS   ·   HPP-05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We Solve It — Governed, Agentic, Human-Decided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LangGraph workflow on AWS: deterministic nodes + in-account Bedrock drafting, every system call through the deny-by-default MCP gateway, and a framework-enforced human gate before any consequential action.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090318" cy="566928"/>
          </a:xfrm>
          <a:prstGeom prst="roundRect">
            <a:avLst>
              <a:gd name="adj" fmla="val 8065"/>
            </a:avLst>
          </a:prstGeom>
          <a:solidFill>
            <a:srgbClr val="232F3E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97510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956816"/>
            <a:ext cx="16331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gather_clinical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803550" y="1920240"/>
            <a:ext cx="2090318" cy="566928"/>
          </a:xfrm>
          <a:prstGeom prst="roundRect">
            <a:avLst>
              <a:gd name="adj" fmla="val 8065"/>
            </a:avLst>
          </a:prstGeom>
          <a:solidFill>
            <a:srgbClr val="232F3E"/>
          </a:solidFill>
          <a:ln/>
        </p:spPr>
      </p:sp>
      <p:sp>
        <p:nvSpPr>
          <p:cNvPr id="9" name="Text 7"/>
          <p:cNvSpPr/>
          <p:nvPr/>
        </p:nvSpPr>
        <p:spPr>
          <a:xfrm>
            <a:off x="2876702" y="197510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15030" y="1956816"/>
            <a:ext cx="16331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evaluate_criteria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58461" y="1920240"/>
            <a:ext cx="2090318" cy="566928"/>
          </a:xfrm>
          <a:prstGeom prst="roundRect">
            <a:avLst>
              <a:gd name="adj" fmla="val 8065"/>
            </a:avLst>
          </a:prstGeom>
          <a:solidFill>
            <a:srgbClr val="232F3E"/>
          </a:solidFill>
          <a:ln/>
        </p:spPr>
      </p:sp>
      <p:sp>
        <p:nvSpPr>
          <p:cNvPr id="12" name="Text 10"/>
          <p:cNvSpPr/>
          <p:nvPr/>
        </p:nvSpPr>
        <p:spPr>
          <a:xfrm>
            <a:off x="5131613" y="197510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69941" y="1956816"/>
            <a:ext cx="16331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fairness_screen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3371" y="1920240"/>
            <a:ext cx="2090318" cy="566928"/>
          </a:xfrm>
          <a:prstGeom prst="roundRect">
            <a:avLst>
              <a:gd name="adj" fmla="val 8065"/>
            </a:avLst>
          </a:prstGeom>
          <a:solidFill>
            <a:srgbClr val="232F3E"/>
          </a:solidFill>
          <a:ln/>
        </p:spPr>
      </p:sp>
      <p:sp>
        <p:nvSpPr>
          <p:cNvPr id="15" name="Text 13"/>
          <p:cNvSpPr/>
          <p:nvPr/>
        </p:nvSpPr>
        <p:spPr>
          <a:xfrm>
            <a:off x="7386523" y="197510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24851" y="1956816"/>
            <a:ext cx="16331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draft_recommendation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568282" y="1920240"/>
            <a:ext cx="2090318" cy="566928"/>
          </a:xfrm>
          <a:prstGeom prst="roundRect">
            <a:avLst>
              <a:gd name="adj" fmla="val 8065"/>
            </a:avLst>
          </a:prstGeom>
          <a:solidFill>
            <a:srgbClr val="232F3E"/>
          </a:solidFill>
          <a:ln/>
        </p:spPr>
      </p:sp>
      <p:sp>
        <p:nvSpPr>
          <p:cNvPr id="18" name="Text 16"/>
          <p:cNvSpPr/>
          <p:nvPr/>
        </p:nvSpPr>
        <p:spPr>
          <a:xfrm>
            <a:off x="9641434" y="197510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979762" y="1956816"/>
            <a:ext cx="16331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compliance_check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2743200"/>
            <a:ext cx="11109960" cy="731520"/>
          </a:xfrm>
          <a:prstGeom prst="roundRect">
            <a:avLst>
              <a:gd name="adj" fmla="val 7500"/>
            </a:avLst>
          </a:prstGeom>
          <a:solidFill>
            <a:srgbClr val="C7361F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2798064"/>
            <a:ext cx="10698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GATE — Medical Director  </a:t>
            </a:r>
            <a:pPr indent="0" marL="0">
              <a:buNone/>
            </a:pPr>
            <a:r>
              <a:rPr lang="en-US" sz="1300" dirty="0">
                <a:solidFill>
                  <a:srgbClr val="FFE2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approves, edits, or rejects. High-risk writes cannot execute before this (LangGraph interrupt_before / Step Functions waitForTaskToken).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703320"/>
            <a:ext cx="3611880" cy="2103120"/>
          </a:xfrm>
          <a:prstGeom prst="roundRect">
            <a:avLst>
              <a:gd name="adj" fmla="val 2609"/>
            </a:avLst>
          </a:prstGeom>
          <a:solidFill>
            <a:srgbClr val="F4F7FA"/>
          </a:solidFill>
          <a:ln w="12700">
            <a:solidFill>
              <a:srgbClr val="E2E8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703320"/>
            <a:ext cx="109728" cy="21031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4" name="Text 22"/>
          <p:cNvSpPr/>
          <p:nvPr/>
        </p:nvSpPr>
        <p:spPr>
          <a:xfrm>
            <a:off x="804672" y="3886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Determination withheld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4672" y="438912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agent holds payer.issue_determination; even a director session can't issue one THROUGH the agent (tested).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25112" y="3703320"/>
            <a:ext cx="3611880" cy="2103120"/>
          </a:xfrm>
          <a:prstGeom prst="roundRect">
            <a:avLst>
              <a:gd name="adj" fmla="val 2609"/>
            </a:avLst>
          </a:prstGeom>
          <a:solidFill>
            <a:srgbClr val="F4F7FA"/>
          </a:solidFill>
          <a:ln w="12700">
            <a:solidFill>
              <a:srgbClr val="E2E8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25112" y="3703320"/>
            <a:ext cx="109728" cy="21031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8" name="Text 26"/>
          <p:cNvSpPr/>
          <p:nvPr/>
        </p:nvSpPr>
        <p:spPr>
          <a:xfrm>
            <a:off x="4581144" y="3886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Four-fifths fairness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81144" y="438912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EEOC four-fifths screen flags disparate selection rates on the flag/rank step for human review.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01584" y="3703320"/>
            <a:ext cx="3611880" cy="2103120"/>
          </a:xfrm>
          <a:prstGeom prst="roundRect">
            <a:avLst>
              <a:gd name="adj" fmla="val 2609"/>
            </a:avLst>
          </a:prstGeom>
          <a:solidFill>
            <a:srgbClr val="F4F7FA"/>
          </a:solidFill>
          <a:ln w="12700">
            <a:solidFill>
              <a:srgbClr val="E2E8E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01584" y="3703320"/>
            <a:ext cx="109728" cy="21031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2" name="Text 30"/>
          <p:cNvSpPr/>
          <p:nvPr/>
        </p:nvSpPr>
        <p:spPr>
          <a:xfrm>
            <a:off x="8357616" y="3886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auto-denies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57616" y="438912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'does not meet' recommendation is forwarded to the medical director — coverage is a human decision.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AI Agent Suite</a:t>
            </a:r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Providers &amp; Plans   ·   Governed AI on AWS   ·   HPP-05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AWS Architecture &amp; Traffic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232F3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 ·  Cognito / Identity Center (SAML/OIDC, MFA) → verified claims (custom:hpp_role)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ED710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 ·  ECS Fargate (LangGraph) or Step Functions (native, waitForTaskToken HITL)  +  Streamlit console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FF990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4688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AUTHORIZATION GATEWAY  ·  deny-by-default + least-privilege intersection + scoped tokens + PHI-masked audit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01A88D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1089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 ·  Amazon Bedrock (in-account, HIPAA-eligible under BAA) + Guardrails (PHI filters)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5A6B7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749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(governed Lambda)  →  MCG/InterQual · Coverage (LCD/NCD) · Payer · EHR/FHIR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C925D1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3891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 ·  DynamoDB append-only audit (PITR, deny Update/Delete) · HITL table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7AA11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0292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Object Lock (WORM) — finalized snapshots · KMS CMK throughout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5669280"/>
            <a:ext cx="11109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never leaves the customer VPC: inference is in-account on Bedrock via a VPC endpoint; every tool call is authorized, scoped-token-minted, and PHI-masked-audited. CloudFormation + Terraform; native or container deploy.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AI Agent Suite</a:t>
            </a:r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Providers &amp; Plans   ·   Governed AI on AWS   ·   HPP-05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This Is Defensible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561320" y="38404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966960" y="868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AWS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11109960" cy="868680"/>
          </a:xfrm>
          <a:prstGeom prst="roundRect">
            <a:avLst>
              <a:gd name="adj" fmla="val 6316"/>
            </a:avLst>
          </a:prstGeom>
          <a:solidFill>
            <a:srgbClr val="2C3B4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353312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bright line: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`payer.issue_determination` is withheld from every agent; an adverse recommendation is forwarded for a human determination, never auto-denied.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468880"/>
            <a:ext cx="64922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control that makes an AI-in-UM program defensible under CMS scrutiny.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application is consistent, cited, and fairness-screened — and auditable for regulators.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medical director owns every determination; the agent only summarizes evidence against criteria.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answers the litigation and Senate-report concerns about algorithmic denial.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06640" y="2468880"/>
            <a:ext cx="4251960" cy="3108960"/>
          </a:xfrm>
          <a:prstGeom prst="roundRect">
            <a:avLst>
              <a:gd name="adj" fmla="val 2353"/>
            </a:avLst>
          </a:prstGeom>
          <a:solidFill>
            <a:srgbClr val="2C3B4E"/>
          </a:solidFill>
          <a:ln/>
        </p:spPr>
      </p:sp>
      <p:sp>
        <p:nvSpPr>
          <p:cNvPr id="10" name="Text 8"/>
          <p:cNvSpPr/>
          <p:nvPr/>
        </p:nvSpPr>
        <p:spPr>
          <a:xfrm>
            <a:off x="7635240" y="2651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A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GOOD LOOKS LIKE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35240" y="3108960"/>
            <a:ext cx="38404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consistent criteria review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Fairness-screened, auditable record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Determination stays human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under CMS / 1557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Senate PSI 2024; CMS WISeR 2025; Deloitte. Maturity: Demonstrated + Deployable-by-design.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AI Agent Suite</a:t>
            </a:r>
            <a:pPr indent="0" marL="0">
              <a:buNone/>
            </a:pPr>
            <a:r>
              <a:rPr lang="en-US" sz="11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Providers &amp; Plans   ·   Governed AI on AWS   ·   HPP-05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2011680" cy="8229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Disclaimer &amp; Shared Responsibility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D5DBDB"/>
                </a:solidFill>
              </a:rPr>
              <a:t>Reference accelerator — not an AWS service, not AWS-supported software, not a compliance certification, and not production-ready for regulated data without customer-specific engineering, testing, authorization, and operational ownership.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D5DBDB"/>
                </a:solidFill>
              </a:rPr>
              <a:t>Built on AWS; not affiliated with or endorsed by Amazon Web Services.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32F3E"/>
      </a:dk2>
      <a:lt2>
        <a:srgbClr val="E7E6E6"/>
      </a:lt2>
      <a:accent1>
        <a:srgbClr val="FF9900"/>
      </a:accent1>
      <a:accent2>
        <a:srgbClr val="232F3E"/>
      </a:accent2>
      <a:accent3>
        <a:srgbClr val="01A88D"/>
      </a:accent3>
      <a:accent4>
        <a:srgbClr val="8C4FFF"/>
      </a:accent4>
      <a:accent5>
        <a:srgbClr val="DD344C"/>
      </a:accent5>
      <a:accent6>
        <a:srgbClr val="ED7100"/>
      </a:accent6>
      <a:hlink>
        <a:srgbClr val="0563C1"/>
      </a:hlink>
      <a:folHlink>
        <a:srgbClr val="954F72"/>
      </a:folHlink>
    </a:clrScheme>
    <a:fontScheme name="Office">
      <a:majorFont>
        <a:latin typeface="Amazon Ember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mazon Ember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HPP AI Agent Suite</dc:creator>
  <cp:lastModifiedBy>HPP AI Agent Suite</cp:lastModifiedBy>
  <cp:revision>1</cp:revision>
  <dcterms:created xsi:type="dcterms:W3CDTF">2026-06-28T22:46:54Z</dcterms:created>
  <dcterms:modified xsi:type="dcterms:W3CDTF">2026-06-28T22:46:54Z</dcterms:modified>
</cp:coreProperties>
</file>