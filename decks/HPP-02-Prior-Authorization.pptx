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00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HPP-02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0561320" y="384048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000" b="1" spc="10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966960" y="8686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DC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AWS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554480"/>
            <a:ext cx="110642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Prior-Authorization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548640" y="3383280"/>
            <a:ext cx="10789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Determines payer requirements, assembles evidence, evaluates criteria, monitors status — a PA nurse submits.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548640" y="502920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assists, drafts, assembles, flags, recommends — a licensed human decides every consequential action.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HPP-02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Issue &amp; What It Costs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561320" y="384048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000" b="1" spc="10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966960" y="8686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DC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AWS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3258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authorization is high-volume, manual, and a leading cause of care delays and clinician burnout.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2468880"/>
            <a:ext cx="3520440" cy="2468880"/>
          </a:xfrm>
          <a:prstGeom prst="roundRect">
            <a:avLst>
              <a:gd name="adj" fmla="val 2963"/>
            </a:avLst>
          </a:prstGeom>
          <a:solidFill>
            <a:srgbClr val="2C3B4E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2788920"/>
            <a:ext cx="3154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990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~39 / wk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777240" y="379476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auths per physician (~13 hours); 40% have staff working only on PA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389120" y="2468880"/>
            <a:ext cx="3520440" cy="2468880"/>
          </a:xfrm>
          <a:prstGeom prst="roundRect">
            <a:avLst>
              <a:gd name="adj" fmla="val 2963"/>
            </a:avLst>
          </a:prstGeom>
          <a:solidFill>
            <a:srgbClr val="2C3B4E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0" y="2788920"/>
            <a:ext cx="3154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990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94%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4617720" y="379476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physicians say PA delays necessary care; 78% report treatment abandonment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8229600" y="2468880"/>
            <a:ext cx="3520440" cy="2468880"/>
          </a:xfrm>
          <a:prstGeom prst="roundRect">
            <a:avLst>
              <a:gd name="adj" fmla="val 2963"/>
            </a:avLst>
          </a:prstGeom>
          <a:solidFill>
            <a:srgbClr val="2C3B4E"/>
          </a:solidFill>
          <a:ln/>
        </p:spPr>
      </p:sp>
      <p:sp>
        <p:nvSpPr>
          <p:cNvPr id="14" name="Text 12"/>
          <p:cNvSpPr/>
          <p:nvPr/>
        </p:nvSpPr>
        <p:spPr>
          <a:xfrm>
            <a:off x="8412480" y="2788920"/>
            <a:ext cx="3154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990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Jan 2027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8458200" y="379476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CMS-0057-F deadline for payer FHIR Prior-Authorization APIs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548640" y="521208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AMA 2024 Prior-Auth physician survey [association]; CMS-0057-F [gov].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What Customers Are Seeing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5486400" cy="36576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2700">
            <a:solidFill>
              <a:srgbClr val="E2E8EF"/>
            </a:solidFill>
            <a:prstDash val="solid"/>
          </a:ln>
          <a:effectLst>
            <a:outerShdw sx="100000" sy="100000" kx="0" ky="0" algn="bl" rotWithShape="0" blurRad="76200" dist="25400" dir="5400000">
              <a:srgbClr val="BFC9D4">
                <a:alpha val="4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234440"/>
            <a:ext cx="5486400" cy="45720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289304"/>
            <a:ext cx="5212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SITUATION TODAY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49808" y="1828800"/>
            <a:ext cx="5084064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Coordinators re-key the same clinical evidence across payer portals and fax; status is opaque.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Delays drive abandonment (78%) and burnout (89% say PA contributes); urgent cases get stuck in the same queue.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Payers and CMS are forcing change: CMS-0057-F mandates four FHIR APIs (incl. Prior Auth) by Jan 1, 2027.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63640" y="1234440"/>
            <a:ext cx="5394960" cy="36576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2700">
            <a:solidFill>
              <a:srgbClr val="E2E8EF"/>
            </a:solidFill>
            <a:prstDash val="solid"/>
          </a:ln>
          <a:effectLst>
            <a:outerShdw sx="100000" sy="100000" kx="0" ky="0" algn="bl" rotWithShape="0" blurRad="76200" dist="25400" dir="5400000">
              <a:srgbClr val="BFC9D4">
                <a:alpha val="4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263640" y="1234440"/>
            <a:ext cx="5394960" cy="457200"/>
          </a:xfrm>
          <a:prstGeom prst="rect">
            <a:avLst/>
          </a:prstGeom>
          <a:solidFill>
            <a:srgbClr val="01A88D"/>
          </a:solidFill>
          <a:ln/>
        </p:spPr>
      </p:sp>
      <p:sp>
        <p:nvSpPr>
          <p:cNvPr id="10" name="Text 8"/>
          <p:cNvSpPr/>
          <p:nvPr/>
        </p:nvSpPr>
        <p:spPr>
          <a:xfrm>
            <a:off x="6428232" y="1289304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MARKET IS SOLVING IT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64808" y="1828800"/>
            <a:ext cx="4992624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 of health plans are prioritizing agentic AI for UM, prior auth, and claims (Deloitte).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2025: 50+ health plans pledged real-time approval for ≥80% of requests and faster turnaround.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93% of plan execs expect AI to ease prior authorization.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5074920"/>
            <a:ext cx="11109960" cy="960120"/>
          </a:xfrm>
          <a:prstGeom prst="roundRect">
            <a:avLst>
              <a:gd name="adj" fmla="val 5714"/>
            </a:avLst>
          </a:prstGeom>
          <a:solidFill>
            <a:srgbClr val="232F3E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5138928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line that must hold: 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determines the requirement, assembles the packet, and submits behind a nurse gate — but the coverage determination is always the payer's.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HPP-02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How We Solve It — Governed, Agentic, Human-Decided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LangGraph workflow on AWS: deterministic nodes + in-account Bedrock drafting, every system call through the deny-by-default MCP gateway, and a framework-enforced human gate before any consequential action.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2090318" cy="566928"/>
          </a:xfrm>
          <a:prstGeom prst="roundRect">
            <a:avLst>
              <a:gd name="adj" fmla="val 8065"/>
            </a:avLst>
          </a:prstGeom>
          <a:solidFill>
            <a:srgbClr val="232F3E"/>
          </a:solidFill>
          <a:ln/>
        </p:spPr>
      </p:sp>
      <p:sp>
        <p:nvSpPr>
          <p:cNvPr id="6" name="Text 4"/>
          <p:cNvSpPr/>
          <p:nvPr/>
        </p:nvSpPr>
        <p:spPr>
          <a:xfrm>
            <a:off x="621792" y="19751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1956816"/>
            <a:ext cx="163311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check_requirement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803550" y="1920240"/>
            <a:ext cx="2090318" cy="566928"/>
          </a:xfrm>
          <a:prstGeom prst="roundRect">
            <a:avLst>
              <a:gd name="adj" fmla="val 8065"/>
            </a:avLst>
          </a:prstGeom>
          <a:solidFill>
            <a:srgbClr val="232F3E"/>
          </a:solidFill>
          <a:ln/>
        </p:spPr>
      </p:sp>
      <p:sp>
        <p:nvSpPr>
          <p:cNvPr id="9" name="Text 7"/>
          <p:cNvSpPr/>
          <p:nvPr/>
        </p:nvSpPr>
        <p:spPr>
          <a:xfrm>
            <a:off x="2876702" y="19751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215030" y="1956816"/>
            <a:ext cx="163311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gather_evidence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058461" y="1920240"/>
            <a:ext cx="2090318" cy="566928"/>
          </a:xfrm>
          <a:prstGeom prst="roundRect">
            <a:avLst>
              <a:gd name="adj" fmla="val 8065"/>
            </a:avLst>
          </a:prstGeom>
          <a:solidFill>
            <a:srgbClr val="232F3E"/>
          </a:solidFill>
          <a:ln/>
        </p:spPr>
      </p:sp>
      <p:sp>
        <p:nvSpPr>
          <p:cNvPr id="12" name="Text 10"/>
          <p:cNvSpPr/>
          <p:nvPr/>
        </p:nvSpPr>
        <p:spPr>
          <a:xfrm>
            <a:off x="5131613" y="19751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69941" y="1956816"/>
            <a:ext cx="163311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evaluate_criteria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7313371" y="1920240"/>
            <a:ext cx="2090318" cy="566928"/>
          </a:xfrm>
          <a:prstGeom prst="roundRect">
            <a:avLst>
              <a:gd name="adj" fmla="val 8065"/>
            </a:avLst>
          </a:prstGeom>
          <a:solidFill>
            <a:srgbClr val="232F3E"/>
          </a:solidFill>
          <a:ln/>
        </p:spPr>
      </p:sp>
      <p:sp>
        <p:nvSpPr>
          <p:cNvPr id="15" name="Text 13"/>
          <p:cNvSpPr/>
          <p:nvPr/>
        </p:nvSpPr>
        <p:spPr>
          <a:xfrm>
            <a:off x="7386523" y="19751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724851" y="1956816"/>
            <a:ext cx="163311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assemble_packet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9568282" y="1920240"/>
            <a:ext cx="2090318" cy="566928"/>
          </a:xfrm>
          <a:prstGeom prst="roundRect">
            <a:avLst>
              <a:gd name="adj" fmla="val 8065"/>
            </a:avLst>
          </a:prstGeom>
          <a:solidFill>
            <a:srgbClr val="232F3E"/>
          </a:solidFill>
          <a:ln/>
        </p:spPr>
      </p:sp>
      <p:sp>
        <p:nvSpPr>
          <p:cNvPr id="18" name="Text 16"/>
          <p:cNvSpPr/>
          <p:nvPr/>
        </p:nvSpPr>
        <p:spPr>
          <a:xfrm>
            <a:off x="9641434" y="19751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979762" y="1956816"/>
            <a:ext cx="163311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compliance_check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48640" y="2743200"/>
            <a:ext cx="11109960" cy="731520"/>
          </a:xfrm>
          <a:prstGeom prst="roundRect">
            <a:avLst>
              <a:gd name="adj" fmla="val 7500"/>
            </a:avLst>
          </a:prstGeom>
          <a:solidFill>
            <a:srgbClr val="C7361F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2798064"/>
            <a:ext cx="106984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REVIEW GATE — PA Nurse  </a:t>
            </a:r>
            <a:pPr indent="0" marL="0">
              <a:buNone/>
            </a:pPr>
            <a:r>
              <a:rPr lang="en-US" sz="1300" dirty="0">
                <a:solidFill>
                  <a:srgbClr val="FFE2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approves, edits, or rejects. High-risk writes cannot execute before this (LangGraph interrupt_before / Step Functions waitForTaskToken).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48640" y="3703320"/>
            <a:ext cx="3611880" cy="2103120"/>
          </a:xfrm>
          <a:prstGeom prst="roundRect">
            <a:avLst>
              <a:gd name="adj" fmla="val 2609"/>
            </a:avLst>
          </a:prstGeom>
          <a:solidFill>
            <a:srgbClr val="F4F7FA"/>
          </a:solidFill>
          <a:ln w="12700">
            <a:solidFill>
              <a:srgbClr val="E2E8E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3703320"/>
            <a:ext cx="109728" cy="21031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24" name="Text 22"/>
          <p:cNvSpPr/>
          <p:nvPr/>
        </p:nvSpPr>
        <p:spPr>
          <a:xfrm>
            <a:off x="804672" y="38862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Vinci-aligned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04672" y="4389120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CRD requirement check, DTR/PAS packet assembly, 278/status monitoring — the FHIR surfaces CMS standardizes by 2027.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325112" y="3703320"/>
            <a:ext cx="3611880" cy="2103120"/>
          </a:xfrm>
          <a:prstGeom prst="roundRect">
            <a:avLst>
              <a:gd name="adj" fmla="val 2609"/>
            </a:avLst>
          </a:prstGeom>
          <a:solidFill>
            <a:srgbClr val="F4F7FA"/>
          </a:solidFill>
          <a:ln w="12700">
            <a:solidFill>
              <a:srgbClr val="E2E8E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703320"/>
            <a:ext cx="109728" cy="21031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28" name="Text 26"/>
          <p:cNvSpPr/>
          <p:nvPr/>
        </p:nvSpPr>
        <p:spPr>
          <a:xfrm>
            <a:off x="4581144" y="38862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Criteria-grounded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4581144" y="4389120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MCG/InterQual indications and medical-necessity policy are cited; nothing is fabricated.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101584" y="3703320"/>
            <a:ext cx="3611880" cy="2103120"/>
          </a:xfrm>
          <a:prstGeom prst="roundRect">
            <a:avLst>
              <a:gd name="adj" fmla="val 2609"/>
            </a:avLst>
          </a:prstGeom>
          <a:solidFill>
            <a:srgbClr val="F4F7FA"/>
          </a:solidFill>
          <a:ln w="12700">
            <a:solidFill>
              <a:srgbClr val="E2E8E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101584" y="3703320"/>
            <a:ext cx="109728" cy="21031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2" name="Text 30"/>
          <p:cNvSpPr/>
          <p:nvPr/>
        </p:nvSpPr>
        <p:spPr>
          <a:xfrm>
            <a:off x="8357616" y="38862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Urgent escalation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8357616" y="4389120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Expedited cases are routed fast; missing evidence returns a request, not a guess.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HPP-02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AWS Architecture &amp; Traffic Flow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14300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232F3E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1887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  ·  Cognito / Identity Center (SAML/OIDC, MFA) → verified claims (custom:hpp_role)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ED7100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82880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 ·  ECS Fargate (LangGraph) or Step Functions (native, waitForTaskToken HITL)  +  Streamlit console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42316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FF9900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24688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AUTHORIZATION GATEWAY  ·  deny-by-default + least-privilege intersection + scoped tokens + PHI-masked audit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06324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01A88D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310896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 ·  Amazon Bedrock (in-account, HIPAA-eligible under BAA) + Guardrails (PHI filters)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70332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5A6B7B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374904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CONNECTORS (governed Lambda)  →  Payer (Da Vinci CRD/DTR/PAS, X12 278) · MCG/InterQual · EHR/FHIR · IDP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34340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C925D1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43891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 ·  DynamoDB append-only audit (PITR, deny Update/Delete) · HITL table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498348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7AA116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502920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Object Lock (WORM) — finalized snapshots · KMS CMK throughout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5669280"/>
            <a:ext cx="11109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 never leaves the customer VPC: inference is in-account on Bedrock via a VPC endpoint; every tool call is authorized, scoped-token-minted, and PHI-masked-audited. CloudFormation + Terraform; native or container deploy.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HPP-02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Why This Is Defensible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561320" y="384048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000" b="1" spc="10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966960" y="8686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DC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AWS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280160"/>
            <a:ext cx="11109960" cy="868680"/>
          </a:xfrm>
          <a:prstGeom prst="roundRect">
            <a:avLst>
              <a:gd name="adj" fmla="val 6316"/>
            </a:avLst>
          </a:prstGeom>
          <a:solidFill>
            <a:srgbClr val="2C3B4E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353312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bright line: 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submits a PA request behind a human gate — but the coverage determination is the payer's, never the agent's.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85800" y="2468880"/>
            <a:ext cx="64922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Compresses the ~13 hours/week physicians lose to PA and the staff time behind it.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Positions providers and plans for the CMS-0057-F 2027 FHIR mandate now.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Reduces care delays and the downstream CO-197 denials Agent 01 works.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rationale is grounded and submitted only on PA-nurse approval.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406640" y="2468880"/>
            <a:ext cx="4251960" cy="3108960"/>
          </a:xfrm>
          <a:prstGeom prst="roundRect">
            <a:avLst>
              <a:gd name="adj" fmla="val 2353"/>
            </a:avLst>
          </a:prstGeom>
          <a:solidFill>
            <a:srgbClr val="2C3B4E"/>
          </a:solidFill>
          <a:ln/>
        </p:spPr>
      </p:sp>
      <p:sp>
        <p:nvSpPr>
          <p:cNvPr id="10" name="Text 8"/>
          <p:cNvSpPr/>
          <p:nvPr/>
        </p:nvSpPr>
        <p:spPr>
          <a:xfrm>
            <a:off x="7635240" y="265176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1A8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GOOD LOOKS LIKE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635240" y="3108960"/>
            <a:ext cx="384048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authorization cycle time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care delays / abandonment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CMS-0057-F readiness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Consistent, cited clinical rationales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AMA 2024; Deloitte Sep 2025; CMS-0057-F. Maturity: Demonstrated + Deployable-by-design.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HPP-02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32F3E"/>
      </a:dk2>
      <a:lt2>
        <a:srgbClr val="E7E6E6"/>
      </a:lt2>
      <a:accent1>
        <a:srgbClr val="FF9900"/>
      </a:accent1>
      <a:accent2>
        <a:srgbClr val="232F3E"/>
      </a:accent2>
      <a:accent3>
        <a:srgbClr val="01A88D"/>
      </a:accent3>
      <a:accent4>
        <a:srgbClr val="8C4FFF"/>
      </a:accent4>
      <a:accent5>
        <a:srgbClr val="DD344C"/>
      </a:accent5>
      <a:accent6>
        <a:srgbClr val="ED7100"/>
      </a:accent6>
      <a:hlink>
        <a:srgbClr val="0563C1"/>
      </a:hlink>
      <a:folHlink>
        <a:srgbClr val="954F72"/>
      </a:folHlink>
    </a:clrScheme>
    <a:fontScheme name="Office">
      <a:majorFont>
        <a:latin typeface="Amazon Ember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mazon Ember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HPP AI Agent Suite</dc:creator>
  <cp:lastModifiedBy>HPP AI Agent Suite</cp:lastModifiedBy>
  <cp:revision>1</cp:revision>
  <dcterms:created xsi:type="dcterms:W3CDTF">2026-06-28T22:46:54Z</dcterms:created>
  <dcterms:modified xsi:type="dcterms:W3CDTF">2026-06-28T22:46:54Z</dcterms:modified>
</cp:coreProperties>
</file>