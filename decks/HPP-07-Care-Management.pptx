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HPP-07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10642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Care Management &amp; Population Health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548640" y="3383280"/>
            <a:ext cx="1078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Identifies care gaps, stratifies risk (HCC/RAF), surfaces SDOH, prepares outreach — a care manager owns the plan.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48640" y="5029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assists, drafts, assembles, flags, recommends — a licensed human decides every consequential action.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HPP-07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Issue &amp; What It Costs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258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Value-based programs depend on closing care gaps and accurate risk capture — but ungoverned risk models can be biased.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&gt;half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77724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 in Black patients flagged for extra care by a widely used biased risk algorithm (Science 2019)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8912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26.3%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461772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chronic conditions in Black vs equally-ranked white patients under that algorithm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2960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&gt;80%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45820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health-system execs prioritizing agentic AI for care delivery (Deloitte)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52120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Obermeyer et al., Science 2019 [peer-reviewed]; Deloitte Sep 2025 [industry-research].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HPP-07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Customers Are Seeing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48640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234440"/>
            <a:ext cx="5486400" cy="4572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289304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SITUATION TODAY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49808" y="1828800"/>
            <a:ext cx="5084064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Care-gap closure and accurate HCC/RAF capture drive Stars/quality bonuses and value-based payment.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landmark study showed a widely used cost-based risk model systematically under-served Black patients.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Ungoverned risk stratification raises Section 1557 nondiscrimination and risk-adjustment-integrity concerns.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234440"/>
            <a:ext cx="539496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63640" y="1234440"/>
            <a:ext cx="5394960" cy="457200"/>
          </a:xfrm>
          <a:prstGeom prst="rect">
            <a:avLst/>
          </a:prstGeom>
          <a:solidFill>
            <a:srgbClr val="01A88D"/>
          </a:solidFill>
          <a:ln/>
        </p:spPr>
      </p:sp>
      <p:sp>
        <p:nvSpPr>
          <p:cNvPr id="10" name="Text 8"/>
          <p:cNvSpPr/>
          <p:nvPr/>
        </p:nvSpPr>
        <p:spPr>
          <a:xfrm>
            <a:off x="6428232" y="128930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MARKET IS SOLVING IT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64808" y="1828800"/>
            <a:ext cx="4992624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risk and care-gap models are a competitive necessity for Stars bonus payments.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adoption now demands fairness screening and explainability — the 2019 bias case is the cautionary tale.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 pair gap identification with a four-fifths fairness check and a care manager who owns the plan.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5074920"/>
            <a:ext cx="11109960" cy="960120"/>
          </a:xfrm>
          <a:prstGeom prst="roundRect">
            <a:avLst>
              <a:gd name="adj" fmla="val 5714"/>
            </a:avLst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5138928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 that must hold: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identifies gaps, stratifies risk, and drafts outreach with a four-fifths fairness screen; the care manager signs off and owns the plan.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HPP-07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How We Solve It — Governed, Agentic, Human-Decided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LangGraph workflow on AWS: deterministic nodes + in-account Bedrock drafting, every system call through the deny-by-default MCP gateway, and a framework-enforced human gate before any consequential action.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714500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956816"/>
            <a:ext cx="12573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load_patient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427732" y="1920240"/>
            <a:ext cx="1714500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2500884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839212" y="1956816"/>
            <a:ext cx="12573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check_consent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306824" y="1920240"/>
            <a:ext cx="1714500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2" name="Text 10"/>
          <p:cNvSpPr/>
          <p:nvPr/>
        </p:nvSpPr>
        <p:spPr>
          <a:xfrm>
            <a:off x="4379976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18304" y="1956816"/>
            <a:ext cx="12573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identify_gaps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185916" y="1920240"/>
            <a:ext cx="1714500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5" name="Text 13"/>
          <p:cNvSpPr/>
          <p:nvPr/>
        </p:nvSpPr>
        <p:spPr>
          <a:xfrm>
            <a:off x="6259068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97396" y="1956816"/>
            <a:ext cx="12573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fairness_screen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065008" y="1920240"/>
            <a:ext cx="1714500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8" name="Text 16"/>
          <p:cNvSpPr/>
          <p:nvPr/>
        </p:nvSpPr>
        <p:spPr>
          <a:xfrm>
            <a:off x="8138160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476488" y="1956816"/>
            <a:ext cx="12573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draft_artifacts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9944100" y="1920240"/>
            <a:ext cx="1714500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21" name="Text 19"/>
          <p:cNvSpPr/>
          <p:nvPr/>
        </p:nvSpPr>
        <p:spPr>
          <a:xfrm>
            <a:off x="10017252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355580" y="1956816"/>
            <a:ext cx="12573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compliance_check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" y="2743200"/>
            <a:ext cx="11109960" cy="731520"/>
          </a:xfrm>
          <a:prstGeom prst="roundRect">
            <a:avLst>
              <a:gd name="adj" fmla="val 7500"/>
            </a:avLst>
          </a:prstGeom>
          <a:solidFill>
            <a:srgbClr val="C7361F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2798064"/>
            <a:ext cx="10698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GATE — Care Manager  </a:t>
            </a:r>
            <a:pPr indent="0" marL="0">
              <a:buNone/>
            </a:pPr>
            <a:r>
              <a:rPr lang="en-US" sz="1300" dirty="0">
                <a:solidFill>
                  <a:srgbClr val="FFE2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approves, edits, or rejects. High-risk writes cannot execute before this (LangGraph interrupt_before / Step Functions waitForTaskToken).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7" name="Text 25"/>
          <p:cNvSpPr/>
          <p:nvPr/>
        </p:nvSpPr>
        <p:spPr>
          <a:xfrm>
            <a:off x="804672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Fairness-screened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04672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four-fifths disparate-impact screen runs on the risk-stratification step — a flagged rate goes to human review.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325112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325112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1" name="Text 29"/>
          <p:cNvSpPr/>
          <p:nvPr/>
        </p:nvSpPr>
        <p:spPr>
          <a:xfrm>
            <a:off x="4581144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CFR Part 2 aware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581144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SUD-sensitive record without consent never produces outreach — it escalates.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101584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01584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5" name="Text 33"/>
          <p:cNvSpPr/>
          <p:nvPr/>
        </p:nvSpPr>
        <p:spPr>
          <a:xfrm>
            <a:off x="8357616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 manager owns it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8357616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Care-plan writes are gated; outreach is plain-language; the human decides and owns the plan.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HPP-07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AWS Architecture &amp; Traffic Flow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232F3E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1887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 ·  Cognito / Identity Center (SAML/OIDC, MFA) → verified claims (custom:hpp_role)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ED7100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288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 ·  ECS Fargate (LangGraph) or Step Functions (native, waitForTaskToken HITL)  +  Streamlit console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42316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FF9900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4688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AUTHORIZATION GATEWAY  ·  deny-by-default + least-privilege intersection + scoped tokens + PHI-masked audit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01A88D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1089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 ·  Amazon Bedrock (in-account, HIPAA-eligible under BAA) + Guardrails (PHI filters)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70332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5A6B7B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7490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(governed Lambda)  →  Care management (HCC/RAF) · EHR/FHIR (HealthLake) · Consent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C925D1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3891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 ·  DynamoDB append-only audit (PITR, deny Update/Delete) · HITL table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7AA116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0292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(WORM) — finalized snapshots · KMS CMK throughout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5669280"/>
            <a:ext cx="11109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never leaves the customer VPC: inference is in-account on Bedrock via a VPC endpoint; every tool call is authorized, scoped-token-minted, and PHI-masked-audited. CloudFormation + Terraform; native or container deploy.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HPP-07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This Is Defensible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11109960" cy="868680"/>
          </a:xfrm>
          <a:prstGeom prst="roundRect">
            <a:avLst>
              <a:gd name="adj" fmla="val 6316"/>
            </a:avLst>
          </a:prstGeom>
          <a:solidFill>
            <a:srgbClr val="2C3B4E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353312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bright line: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stratification is fairness-screened and care-plan writes are gated; the care manager owns the plan — the agent never assigns risk autonomously.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2468880"/>
            <a:ext cx="64922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care gaps and supports accurate risk capture — the engine of value-based revenue.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addresses the 2019 algorithmic-bias case with a built-in four-fifths fairness screen.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1557 and risk-adjustment integrity are defended by fairness + grounding + human ownership.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(Part 2) records are gated; patient outreach is health-literacy-checked.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406640" y="2468880"/>
            <a:ext cx="4251960" cy="3108960"/>
          </a:xfrm>
          <a:prstGeom prst="roundRect">
            <a:avLst>
              <a:gd name="adj" fmla="val 2353"/>
            </a:avLst>
          </a:prstGeom>
          <a:solidFill>
            <a:srgbClr val="2C3B4E"/>
          </a:solidFill>
          <a:ln/>
        </p:spPr>
      </p:sp>
      <p:sp>
        <p:nvSpPr>
          <p:cNvPr id="10" name="Text 8"/>
          <p:cNvSpPr/>
          <p:nvPr/>
        </p:nvSpPr>
        <p:spPr>
          <a:xfrm>
            <a:off x="7635240" y="26517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A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635240" y="3108960"/>
            <a:ext cx="38404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closed care gaps (Stars)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Fairer, auditable risk stratification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Defensible under Section 1557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Care-manager-owned plans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Science 2019; Deloitte. Maturity: Demonstrated + Deployable-by-design.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HPP-07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HPP AI Agent Suite</dc:creator>
  <cp:lastModifiedBy>HPP AI Agent Suite</cp:lastModifiedBy>
  <cp:revision>1</cp:revision>
  <dcterms:created xsi:type="dcterms:W3CDTF">2026-06-28T22:46:55Z</dcterms:created>
  <dcterms:modified xsi:type="dcterms:W3CDTF">2026-06-28T22:46:55Z</dcterms:modified>
</cp:coreProperties>
</file>