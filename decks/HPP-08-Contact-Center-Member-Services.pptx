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HPP-08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Contact Center / Member Services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48640" y="33832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member inquiries, checks claim status and benefits, intakes grievances on Amazon Connect — a rep approves writes.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assembles, flags, recommends — a licensed human decides every consequential action.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Issue &amp; What It Costs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Member-service volume spikes around denials and benefits questions — and healthcare live-agent calls are expensive.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$25–$35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77724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a healthcare live-agent call/ticket (vs $6–$15 in general industries)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8912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~45%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61772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routine member queries AI agents can deflect (2025 CX benchmark)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−45% / +12 pt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45820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healthcare group's contact-center cost cut and satisfaction gain with Amazon Connect AI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Hyro State of Healthcare Call Centers 2025; D3Clarity / Amazon Connect [industry-research]/[sector-press].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HPP-08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Customers Are Seeing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34440"/>
            <a:ext cx="5486400" cy="4572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9304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 TODAY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8406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call about the same denials and benefits questions the rest of the suite touches — at $25–$35 a call.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Reps need verified context fast; identity proofing and account lookups eat handle time.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1557 requires accessible, nondiscriminatory, plain-language member communication.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539496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234440"/>
            <a:ext cx="5394960" cy="457200"/>
          </a:xfrm>
          <a:prstGeom prst="rect">
            <a:avLst/>
          </a:prstGeom>
          <a:solidFill>
            <a:srgbClr val="01A88D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2893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MARKET IS SOLVING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64808" y="1828800"/>
            <a:ext cx="499262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now deflect ~45% of routine queries (status, benefits, scheduling), cutting cost per call.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Connect Health adds conversational identity verification + appointment management.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healthcare group cut contact-center cost ~45%/yr and raised satisfaction 12 points with Connect AI.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1109960" cy="960120"/>
          </a:xfrm>
          <a:prstGeom prst="roundRect">
            <a:avLst>
              <a:gd name="adj" fmla="val 5714"/>
            </a:avLst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138928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that must hold: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verifies the member, retrieves status and benefits, and drafts a plain-language answer; a rep approves logging or grievance intake — and the agent never submits an appeal.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HPP-08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We Solve It — Governed, Agentic, Human-Decided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LangGraph workflow on AWS: deterministic nodes + in-account Bedrock drafting, every system call through the deny-by-default MCP gateway, and a framework-enforced human gate before any consequential action.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654046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956816"/>
            <a:ext cx="219684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verify_member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67278" y="1920240"/>
            <a:ext cx="2654046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3440430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778758" y="1956816"/>
            <a:ext cx="219684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185916" y="1920240"/>
            <a:ext cx="2654046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2" name="Text 10"/>
          <p:cNvSpPr/>
          <p:nvPr/>
        </p:nvSpPr>
        <p:spPr>
          <a:xfrm>
            <a:off x="6259068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97396" y="1956816"/>
            <a:ext cx="219684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draft_response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9004554" y="1920240"/>
            <a:ext cx="2654046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5" name="Text 13"/>
          <p:cNvSpPr/>
          <p:nvPr/>
        </p:nvSpPr>
        <p:spPr>
          <a:xfrm>
            <a:off x="9077706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416034" y="1956816"/>
            <a:ext cx="219684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compliance_check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2743200"/>
            <a:ext cx="11109960" cy="731520"/>
          </a:xfrm>
          <a:prstGeom prst="roundRect">
            <a:avLst>
              <a:gd name="adj" fmla="val 7500"/>
            </a:avLst>
          </a:prstGeom>
          <a:solidFill>
            <a:srgbClr val="C7361F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2798064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GATE — Member-Services Rep  </a:t>
            </a:r>
            <a:pPr indent="0" marL="0">
              <a:buNone/>
            </a:pPr>
            <a:r>
              <a:rPr lang="en-US" sz="1300" dirty="0">
                <a:solidFill>
                  <a:srgbClr val="FFE2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approves, edits, or rejects. High-risk writes cannot execute before this (LangGraph interrupt_before / Step Functions waitForTaskToken).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before disclosure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04672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account, claim, or benefit detail is shared without a verified member.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25112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25112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5" name="Text 23"/>
          <p:cNvSpPr/>
          <p:nvPr/>
        </p:nvSpPr>
        <p:spPr>
          <a:xfrm>
            <a:off x="4581144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answers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81144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status (276/277) and eligibility (270/271) responses are grounded; nothing is fabricated.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101584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01584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9" name="Text 27"/>
          <p:cNvSpPr/>
          <p:nvPr/>
        </p:nvSpPr>
        <p:spPr>
          <a:xfrm>
            <a:off x="8357616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off, doesn't decide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357616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submit an appeal (that's Agent 01); grievance intake routes to the human process.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HPP-08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AWS Architecture &amp; Traffic 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232F3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188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 ·  Cognito / Identity Center (SAML/OIDC, MFA) → verified claims (custom:hpp_role)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ED710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 ·  ECS Fargate (LangGraph) or Step Functions (native, waitForTaskToken HITL)  +  Streamlit console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FF990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468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AUTHORIZATION GATEWAY  ·  deny-by-default + least-privilege intersection + scoped tokens + PHI-masked audit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01A88D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1089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·  Amazon Bedrock (in-account, HIPAA-eligible under BAA) + Guardrails (PHI filters)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5A6B7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749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(governed Lambda)  →  Amazon Connect · Payer (X12 276/277, 270/271) · Identity · Consent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C925D1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 ·  DynamoDB append-only audit (PITR, deny Update/Delete) · HITL table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7AA11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(WORM) — finalized snapshots · KMS CMK throughout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5669280"/>
            <a:ext cx="11109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never leaves the customer VPC: inference is in-account on Bedrock via a VPC endpoint; every tool call is authorized, scoped-token-minted, and PHI-masked-audited. CloudFormation + Terraform; native or container deploy.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HPP-08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This Is Defensible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2C3B4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5331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 disclosure without a verified member; the agent cannot submit an appeal — it hands off to revenue cycle.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6492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Deflects routine, expensive calls with grounded, identity-verified answers.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Improves member experience (CAHPS/Stars) with plain-language, Section 1557-accessible responses.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 and grievance intake are gated; every disclosure is identity-verified and audited.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loop with Agent 01 — the same denials, answered for the member.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06640" y="2468880"/>
            <a:ext cx="4251960" cy="3108960"/>
          </a:xfrm>
          <a:prstGeom prst="roundRect">
            <a:avLst>
              <a:gd name="adj" fmla="val 2353"/>
            </a:avLst>
          </a:prstGeom>
          <a:solidFill>
            <a:srgbClr val="2C3B4E"/>
          </a:solidFill>
          <a:ln/>
        </p:spPr>
      </p:sp>
      <p:sp>
        <p:nvSpPr>
          <p:cNvPr id="10" name="Text 8"/>
          <p:cNvSpPr/>
          <p:nvPr/>
        </p:nvSpPr>
        <p:spPr>
          <a:xfrm>
            <a:off x="763524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635240" y="310896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cost per call / deflection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member experience (Stars)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Identity-safe, grounded answers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grievance intake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Hyro 2025; Amazon Connect. Maturity: Demonstrated + Deployable-by-design.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HPP-08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HPP AI Agent Suite</dc:creator>
  <cp:lastModifiedBy>HPP AI Agent Suite</cp:lastModifiedBy>
  <cp:revision>1</cp:revision>
  <dcterms:created xsi:type="dcterms:W3CDTF">2026-06-28T22:46:55Z</dcterms:created>
  <dcterms:modified xsi:type="dcterms:W3CDTF">2026-06-28T22:46:55Z</dcterms:modified>
</cp:coreProperties>
</file>