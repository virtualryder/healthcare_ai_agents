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HPP-08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61320" y="384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Contact Center / Member Services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member inquiries, checks claim status and benefits, intakes grievances on Amazon Connect — a rep approves writes.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5029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assists, drafts, assembles, flags, recommends — a licensed human decides every consequential action.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HPP-08</a:t>
            </a:r>
            <a:endParaRPr lang="en-US" sz="1100" dirty="0"/>
          </a:p>
        </p:txBody>
      </p:sp>
      <p:sp>
        <p:nvSpPr>
          <p:cNvPr id="10" name="TextBox 9"/>
          <p:cNvSpPr txBox="1"/>
          <p:nvPr/>
        </p:nvSpPr>
        <p:spPr>
          <a:xfrm>
            <a:off x="365760" y="6291072"/>
            <a:ext cx="11460175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00" i="1">
                <a:solidFill>
                  <a:srgbClr val="879296"/>
                </a:solidFill>
              </a:rPr>
              <a:t>Reference accelerator — not an AWS service, not AWS-supported software, not a compliance certification, and not production-ready for regulated data without customer-specific engineering, testing, authorization, and operational ownership.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Issue &amp; What It Costs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61320" y="384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Member-service volume spikes around denials and benefits questions — and healthcare live-agent calls are expensive.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2C3B4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$25–$35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77240" y="3794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a healthcare live-agent call/ticket (vs $6–$15 in general industries)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8912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2C3B4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~45%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617720" y="3794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routine member queries AI agents can deflect (2025 CX benchmark)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2C3B4E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−45% / +12 pt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458200" y="3794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healthcare group's contact-center cost cut and satisfaction gain with Amazon Connect AI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Hyro State of Healthcare Call Centers 2025; D3Clarity / Amazon Connect [industry-research]/[sector-press].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Customers Are Seeing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00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28930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 TODAY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508406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call about the same denials and benefits questions the rest of the suite touches — at $25–$35 a call.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need verified context fast; identity proofing and account lookups eat handle time.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1557 requires accessible, nondiscriminatory, plain-language member communication.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234440"/>
            <a:ext cx="539496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234440"/>
            <a:ext cx="5394960" cy="457200"/>
          </a:xfrm>
          <a:prstGeom prst="rect">
            <a:avLst/>
          </a:prstGeom>
          <a:solidFill>
            <a:srgbClr val="01A88D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128930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MARKET IS SOLVING 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64808" y="1828800"/>
            <a:ext cx="499262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now deflect ~45% of routine queries (status, benefits, scheduling), cutting cost per call.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Connect Health adds conversational identity verification + appointment management.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healthcare group cut contact-center cost ~45%/yr and raised satisfaction 12 points with Connect AI.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109960" cy="960120"/>
          </a:xfrm>
          <a:prstGeom prst="roundRect">
            <a:avLst>
              <a:gd name="adj" fmla="val 5714"/>
            </a:avLst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138928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that must hold: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verifies the member, retrieves status and benefits, and drafts a plain-language answer; a rep approves logging or grievance intake — and the agent never submits an appeal.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HPP-08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We Solve It — Governed, Agentic, Human-Decided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 workflow on AWS: deterministic nodes + in-account Bedrock drafting, every system call through the deny-by-default MCP gateway, and a framework-enforced human gate before any consequential action.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54046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956816"/>
            <a:ext cx="21968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verify_member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67278" y="1920240"/>
            <a:ext cx="2654046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3440430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78758" y="1956816"/>
            <a:ext cx="21968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85916" y="1920240"/>
            <a:ext cx="2654046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12" name="Text 10"/>
          <p:cNvSpPr/>
          <p:nvPr/>
        </p:nvSpPr>
        <p:spPr>
          <a:xfrm>
            <a:off x="6259068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97396" y="1956816"/>
            <a:ext cx="21968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draft_response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004554" y="1920240"/>
            <a:ext cx="2654046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15" name="Text 13"/>
          <p:cNvSpPr/>
          <p:nvPr/>
        </p:nvSpPr>
        <p:spPr>
          <a:xfrm>
            <a:off x="9077706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16034" y="1956816"/>
            <a:ext cx="21968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compliance_check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11109960" cy="731520"/>
          </a:xfrm>
          <a:prstGeom prst="roundRect">
            <a:avLst>
              <a:gd name="adj" fmla="val 7500"/>
            </a:avLst>
          </a:prstGeom>
          <a:solidFill>
            <a:srgbClr val="C7361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798064"/>
            <a:ext cx="10698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GATE — Member-Services Rep  </a:t>
            </a:r>
            <a:pPr indent="0" marL="0">
              <a:buNone/>
            </a:pPr>
            <a:r>
              <a:rPr lang="en-US" sz="1300" dirty="0">
                <a:solidFill>
                  <a:srgbClr val="FFE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approves, edits, or rejects. High-risk writes cannot execute before this (LangGraph interrupt_before / Step Functions waitForTaskToken).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703320"/>
            <a:ext cx="109728" cy="21031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before disclosure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account, claim, or benefit detail is shared without a verified member.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25112" y="370332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25112" y="3703320"/>
            <a:ext cx="109728" cy="21031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5" name="Text 23"/>
          <p:cNvSpPr/>
          <p:nvPr/>
        </p:nvSpPr>
        <p:spPr>
          <a:xfrm>
            <a:off x="4581144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81144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status (276/277) and eligibility (270/271) responses are grounded; nothing is fabricated.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01584" y="370332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01584" y="3703320"/>
            <a:ext cx="109728" cy="21031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9" name="Text 27"/>
          <p:cNvSpPr/>
          <p:nvPr/>
        </p:nvSpPr>
        <p:spPr>
          <a:xfrm>
            <a:off x="8357616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off, doesn't decide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57616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submit an appeal (that's Agent 01); grievance intake routes to the human process.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HPP-08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AWS Architecture &amp; Traffic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232F3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 ·  Cognito / Identity Center (SAML/OIDC, MFA) → verified claims (custom:hpp_role)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ED710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 ·  ECS Fargate (LangGraph) or Step Functions (native, waitForTaskToken HITL)  +  Streamlit console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68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AUTHORIZATION GATEWAY  ·  deny-by-default + least-privilege intersection + scoped tokens + PHI-masked audit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01A88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089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·  Amazon Bedrock (in-account, HIPAA-eligible under BAA) + Guardrails (PHI filters)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5A6B7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49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(governed Lambda)  →  Amazon Connect · Payer (X12 276/277, 270/271) · Identity · Consent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C925D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389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·  DynamoDB append-only audit (PITR, deny Update/Delete) · HITL table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7AA11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29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 (WORM) — finalized snapshots · KMS CMK throughout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669280"/>
            <a:ext cx="11109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never leaves the customer VPC: inference is in-account on Bedrock via a VPC endpoint; every tool call is authorized, scoped-token-minted, and PHI-masked-audited. CloudFormation + Terraform; native or container deploy.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HPP-08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This Is Defensible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61320" y="384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1109960" cy="868680"/>
          </a:xfrm>
          <a:prstGeom prst="roundRect">
            <a:avLst>
              <a:gd name="adj" fmla="val 6316"/>
            </a:avLst>
          </a:prstGeom>
          <a:solidFill>
            <a:srgbClr val="2C3B4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53312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bright line: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 disclosure without a verified member; the agent cannot submit an appeal — it hands off to revenue cycle.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6492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Deflects routine, expensive calls with grounded, identity-verified answers.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member experience (CAHPS/Stars) with plain-language, Section 1557-accessible responses.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and grievance intake are gated; every disclosure is identity-verified and audited.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loop with Agent 01 — the same denials, answered for the member.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2468880"/>
            <a:ext cx="4251960" cy="3108960"/>
          </a:xfrm>
          <a:prstGeom prst="roundRect">
            <a:avLst>
              <a:gd name="adj" fmla="val 2353"/>
            </a:avLst>
          </a:prstGeom>
          <a:solidFill>
            <a:srgbClr val="2C3B4E"/>
          </a:solidFill>
          <a:ln/>
        </p:spPr>
      </p:sp>
      <p:sp>
        <p:nvSpPr>
          <p:cNvPr id="10" name="Text 8"/>
          <p:cNvSpPr/>
          <p:nvPr/>
        </p:nvSpPr>
        <p:spPr>
          <a:xfrm>
            <a:off x="7635240" y="2651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A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35240" y="310896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 per call / deflection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member experience (Stars)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Identity-safe, grounded answers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grievance intake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Hyro 2025; Amazon Connect. Maturity: Demonstrated + Deployable-by-design.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HPP-08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2011680" cy="8229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Disclaimer &amp; Shared 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D5DBDB"/>
                </a:solidFill>
              </a:rPr>
              <a:t>Reference accelerator — not an AWS service, not AWS-supported software, not a compliance certification, and not production-ready for regulated data without customer-specific engineering, testing, authorization, and operational ownership.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D5DBDB"/>
                </a:solidFill>
              </a:rPr>
              <a:t>Built on AWS; not affiliated with or endorsed by Amazon Web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32F3E"/>
      </a:dk2>
      <a:lt2>
        <a:srgbClr val="E7E6E6"/>
      </a:lt2>
      <a:accent1>
        <a:srgbClr val="FF9900"/>
      </a:accent1>
      <a:accent2>
        <a:srgbClr val="232F3E"/>
      </a:accent2>
      <a:accent3>
        <a:srgbClr val="01A88D"/>
      </a:accent3>
      <a:accent4>
        <a:srgbClr val="8C4FFF"/>
      </a:accent4>
      <a:accent5>
        <a:srgbClr val="DD344C"/>
      </a:accent5>
      <a:accent6>
        <a:srgbClr val="ED7100"/>
      </a:accent6>
      <a:hlink>
        <a:srgbClr val="0563C1"/>
      </a:hlink>
      <a:folHlink>
        <a:srgbClr val="954F72"/>
      </a:folHlink>
    </a:clrScheme>
    <a:fontScheme name="Office">
      <a:majorFont>
        <a:latin typeface="Amazon Ember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mazon Emb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HPP AI Agent Suite</dc:creator>
  <cp:lastModifiedBy>HPP AI Agent Suite</cp:lastModifiedBy>
  <cp:revision>1</cp:revision>
  <dcterms:created xsi:type="dcterms:W3CDTF">2026-06-28T22:46:55Z</dcterms:created>
  <dcterms:modified xsi:type="dcterms:W3CDTF">2026-06-28T22:46:55Z</dcterms:modified>
</cp:coreProperties>
</file>